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64" autoAdjust="0"/>
    <p:restoredTop sz="94610"/>
  </p:normalViewPr>
  <p:slideViewPr>
    <p:cSldViewPr snapToGrid="0" snapToObjects="1">
      <p:cViewPr varScale="1">
        <p:scale>
          <a:sx n="82" d="100"/>
          <a:sy n="82" d="100"/>
        </p:scale>
        <p:origin x="38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4085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script: Hello everyone. Our project is Emoji Prediction from Social Media Text. The main idea is simple: given a short text like a tweet, the system predicts the emoji that best represents the emotion or meaning. This is useful because emojis add context that plain text often misses.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defined this as a supervised multi-class classification problem. The input is a sentence, and the output is one emoji class. The challenge is that tweets are very informal and sometimes one word changes the meaning. This is why a deep learning model is useful.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the data, we used TweetEval emoji data and added extra clean Twitter emoji examples from Kaggle. We selected eleven high-impact emoji classes. The final processed dataset has 58,498 training samples, 4,922 validation samples, and 2,520 test samples. The preprocessing was important because if emojis remain inside the input text, the model can cheat.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did not only build one model. We started with TF-IDF plus logistic regression as a simple baseline. Then we tested a pre-trained emoji RoBERTa model without fine-tuning. Finally, we trained our own FGM fine-tuned RoBERTa model. This gives a fair comparison from simple to advanced.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best model is a fine-tuned RoBERTa model with Fast Gradient Method adversarial training. In simple words, FGM slightly perturbs the embeddings during training so the model becomes more robust to small wording variations, spelling mistakes, and slang. We also used class-weighted loss and early stopping.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results show the main lesson of the project. The traditional TF-IDF model reached around 0.42 accuracy and 0.33 Macro F1. The pre-trained transformer without fine-tuning was not suitable for our exact classes. The FGM fine-tuned model was clearly the best with about 0.694 accuracy and 0.696 Macro F1.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learning curves suggest stable training. The loss goes down, and validation metrics improve and then stabilize. In the confusion matrices, the FGM model shows a strong diagonal, which means many samples are classified correctly. Most remaining mistakes happen between close emotions like smile, grin, and laughing.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also deployed the project. The frontend is a React TypeScript app hosted on Firebase. Since the model understands English, Arabic input is translated first. The rule-based engine handles out-of-distribution cases like sadness or anger. If no rule matches, the app sends the text to the Hugging Face backend and returns the predicted emoji.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main challenges were noisy social media text, class imbalance, and ambiguity between emoji meanings. In the future, the strongest improvement would be training a native multilingual model so Arabic input does not need translation. We can also expand the emoji set and collect more balanced examples.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script: Thank you for listening. We are ready for questions. If time allows, open the live demo and enter one English sentence and one Arabic sentence to show the full workflow.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DFBF7"/>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moji-predictor-app.web.ap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658368" y="713232"/>
            <a:ext cx="6583680" cy="1234440"/>
          </a:xfrm>
          <a:prstGeom prst="rect">
            <a:avLst/>
          </a:prstGeom>
          <a:noFill/>
          <a:ln/>
        </p:spPr>
        <p:txBody>
          <a:bodyPr wrap="square" lIns="0" tIns="0" rIns="0" bIns="0" rtlCol="0" anchor="ctr">
            <a:normAutofit lnSpcReduction="10000"/>
          </a:bodyP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Emoji Prediction from</a:t>
            </a:r>
            <a:endParaRPr lang="en-US" sz="4200" dirty="0"/>
          </a:p>
          <a:p>
            <a:pPr marL="0" indent="0">
              <a:buNone/>
            </a:pPr>
            <a:r>
              <a:rPr lang="en-US" sz="4200" b="1" dirty="0">
                <a:solidFill>
                  <a:srgbClr val="FFFFFF"/>
                </a:solidFill>
                <a:latin typeface="Aptos Display" pitchFamily="34" charset="0"/>
                <a:ea typeface="Aptos Display" pitchFamily="34" charset="-122"/>
                <a:cs typeface="Aptos Display" pitchFamily="34" charset="-120"/>
              </a:rPr>
              <a:t>Social Media Text</a:t>
            </a:r>
            <a:endParaRPr lang="en-US" sz="4200" dirty="0"/>
          </a:p>
        </p:txBody>
      </p:sp>
      <p:sp>
        <p:nvSpPr>
          <p:cNvPr id="3" name="Text 1"/>
          <p:cNvSpPr/>
          <p:nvPr/>
        </p:nvSpPr>
        <p:spPr>
          <a:xfrm>
            <a:off x="694944" y="2084832"/>
            <a:ext cx="5120640" cy="292608"/>
          </a:xfrm>
          <a:prstGeom prst="rect">
            <a:avLst/>
          </a:prstGeom>
          <a:noFill/>
          <a:ln/>
        </p:spPr>
        <p:txBody>
          <a:bodyPr wrap="square" lIns="0" tIns="0" rIns="0" bIns="0" rtlCol="0" anchor="ctr"/>
          <a:lstStyle/>
          <a:p>
            <a:pPr marL="0" indent="0">
              <a:buNone/>
            </a:pPr>
            <a:r>
              <a:rPr lang="en-US" sz="1600" dirty="0">
                <a:solidFill>
                  <a:srgbClr val="CBD5E1"/>
                </a:solidFill>
              </a:rPr>
              <a:t>AI 445: Natural Language Processing</a:t>
            </a:r>
            <a:endParaRPr lang="en-US" sz="1600" dirty="0"/>
          </a:p>
        </p:txBody>
      </p:sp>
      <p:sp>
        <p:nvSpPr>
          <p:cNvPr id="4" name="Text 2"/>
          <p:cNvSpPr/>
          <p:nvPr/>
        </p:nvSpPr>
        <p:spPr>
          <a:xfrm>
            <a:off x="553212" y="3191256"/>
            <a:ext cx="6400800" cy="475488"/>
          </a:xfrm>
          <a:prstGeom prst="rect">
            <a:avLst/>
          </a:prstGeom>
          <a:noFill/>
          <a:ln/>
        </p:spPr>
        <p:txBody>
          <a:bodyPr wrap="square" lIns="0" tIns="0" rIns="0" bIns="0" rtlCol="0" anchor="ctr"/>
          <a:lstStyle/>
          <a:p>
            <a:pPr marL="0" indent="0">
              <a:buNone/>
            </a:pPr>
            <a:r>
              <a:rPr lang="en-US" sz="2400" dirty="0">
                <a:solidFill>
                  <a:srgbClr val="FFFFFF"/>
                </a:solidFill>
                <a:latin typeface="Segoe UI Emoji" pitchFamily="34" charset="0"/>
                <a:ea typeface="Segoe UI Emoji" pitchFamily="34" charset="-122"/>
                <a:cs typeface="Segoe UI Emoji" pitchFamily="34" charset="-120"/>
              </a:rPr>
              <a:t>😂  ❤  📷  😎  😉  💯  🔥  ✨  😊  😜  😁</a:t>
            </a:r>
            <a:endParaRPr lang="en-US" sz="2400" dirty="0"/>
          </a:p>
        </p:txBody>
      </p:sp>
      <p:sp>
        <p:nvSpPr>
          <p:cNvPr id="5" name="Text 3"/>
          <p:cNvSpPr/>
          <p:nvPr/>
        </p:nvSpPr>
        <p:spPr>
          <a:xfrm>
            <a:off x="658368" y="2404872"/>
            <a:ext cx="6583680" cy="658368"/>
          </a:xfrm>
          <a:prstGeom prst="rect">
            <a:avLst/>
          </a:prstGeom>
          <a:noFill/>
          <a:ln/>
        </p:spPr>
        <p:txBody>
          <a:bodyPr wrap="square" lIns="254" tIns="254" rIns="254" bIns="254" rtlCol="0" anchor="ctr">
            <a:normAutofit/>
          </a:bodyPr>
          <a:lstStyle/>
          <a:p>
            <a:pPr marL="0" indent="0">
              <a:buNone/>
            </a:pPr>
            <a:r>
              <a:rPr lang="en-US" sz="1900" dirty="0">
                <a:solidFill>
                  <a:srgbClr val="F9FAFB"/>
                </a:solidFill>
              </a:rPr>
              <a:t>Goal: read a short social-media text and predict the emoji that best matches its emotion or context.</a:t>
            </a:r>
            <a:endParaRPr lang="en-US" sz="1900" dirty="0"/>
          </a:p>
        </p:txBody>
      </p:sp>
      <p:sp>
        <p:nvSpPr>
          <p:cNvPr id="6" name="Text 4"/>
          <p:cNvSpPr/>
          <p:nvPr/>
        </p:nvSpPr>
        <p:spPr>
          <a:xfrm>
            <a:off x="5720237" y="3847338"/>
            <a:ext cx="751523" cy="384048"/>
          </a:xfrm>
          <a:prstGeom prst="rect">
            <a:avLst/>
          </a:prstGeom>
          <a:noFill/>
          <a:ln/>
        </p:spPr>
        <p:txBody>
          <a:bodyPr wrap="square" lIns="0" tIns="0" rIns="0" bIns="0" rtlCol="0" anchor="ctr"/>
          <a:lstStyle/>
          <a:p>
            <a:pPr marL="0" indent="0">
              <a:buNone/>
            </a:pPr>
            <a:r>
              <a:rPr lang="en-US" sz="2000" dirty="0">
                <a:solidFill>
                  <a:srgbClr val="CBD5E1"/>
                </a:solidFill>
              </a:rPr>
              <a:t>Team:</a:t>
            </a:r>
          </a:p>
        </p:txBody>
      </p:sp>
      <p:sp>
        <p:nvSpPr>
          <p:cNvPr id="7" name="Text 5"/>
          <p:cNvSpPr/>
          <p:nvPr/>
        </p:nvSpPr>
        <p:spPr>
          <a:xfrm>
            <a:off x="8275320" y="713232"/>
            <a:ext cx="2880360" cy="1051560"/>
          </a:xfrm>
          <a:prstGeom prst="rect">
            <a:avLst/>
          </a:prstGeom>
          <a:solidFill>
            <a:srgbClr val="1F2937"/>
          </a:solidFill>
          <a:ln>
            <a:solidFill>
              <a:srgbClr val="374151"/>
            </a:solidFill>
          </a:ln>
        </p:spPr>
        <p:txBody>
          <a:bodyPr wrap="square" lIns="0" tIns="0" rIns="0" bIns="0" rtlCol="0" anchor="ctr"/>
          <a:lstStyle/>
          <a:p>
            <a:pPr marL="0" indent="0" algn="ctr">
              <a:buNone/>
            </a:pPr>
            <a:r>
              <a:rPr lang="en-US" sz="5800" b="1" dirty="0">
                <a:solidFill>
                  <a:schemeClr val="accent4">
                    <a:lumMod val="40000"/>
                    <a:lumOff val="60000"/>
                  </a:schemeClr>
                </a:solidFill>
                <a:latin typeface="Aptos Display" pitchFamily="34" charset="0"/>
                <a:ea typeface="Aptos Display" pitchFamily="34" charset="-122"/>
                <a:cs typeface="Aptos Display" pitchFamily="34" charset="-120"/>
              </a:rPr>
              <a:t>NLP</a:t>
            </a:r>
            <a:endParaRPr lang="en-US" sz="5800" dirty="0">
              <a:solidFill>
                <a:schemeClr val="accent4">
                  <a:lumMod val="40000"/>
                  <a:lumOff val="60000"/>
                </a:schemeClr>
              </a:solidFill>
            </a:endParaRPr>
          </a:p>
        </p:txBody>
      </p:sp>
      <p:sp>
        <p:nvSpPr>
          <p:cNvPr id="8" name="Text 6"/>
          <p:cNvSpPr/>
          <p:nvPr/>
        </p:nvSpPr>
        <p:spPr>
          <a:xfrm>
            <a:off x="8092440" y="1993392"/>
            <a:ext cx="3246120" cy="2011680"/>
          </a:xfrm>
          <a:prstGeom prst="rect">
            <a:avLst/>
          </a:prstGeom>
          <a:solidFill>
            <a:srgbClr val="1F2937">
              <a:alpha val="92000"/>
            </a:srgbClr>
          </a:solidFill>
          <a:ln>
            <a:solidFill>
              <a:srgbClr val="374151"/>
            </a:solidFill>
          </a:ln>
        </p:spPr>
        <p:txBody>
          <a:bodyPr wrap="square" lIns="1905" tIns="1905" rIns="1905" bIns="1905" rtlCol="0" anchor="ctr">
            <a:normAutofit/>
          </a:bodyPr>
          <a:lstStyle/>
          <a:p>
            <a:pPr marL="0" indent="0" algn="ctr">
              <a:buNone/>
            </a:pPr>
            <a:r>
              <a:rPr lang="en-US" sz="2000" b="1" dirty="0">
                <a:solidFill>
                  <a:srgbClr val="FFFFFF"/>
                </a:solidFill>
              </a:rPr>
              <a:t>Text alone misses tone.</a:t>
            </a:r>
            <a:endParaRPr lang="en-US" sz="2000" dirty="0"/>
          </a:p>
          <a:p>
            <a:pPr marL="0" indent="0" algn="ctr">
              <a:buNone/>
            </a:pPr>
            <a:r>
              <a:rPr lang="en-US" sz="2000" b="1" dirty="0">
                <a:solidFill>
                  <a:srgbClr val="FFFFFF"/>
                </a:solidFill>
              </a:rPr>
              <a:t>Emojis restore the feeling.</a:t>
            </a:r>
            <a:endParaRPr lang="en-US" sz="2000" dirty="0"/>
          </a:p>
        </p:txBody>
      </p:sp>
      <p:pic>
        <p:nvPicPr>
          <p:cNvPr id="10" name="Picture 9">
            <a:extLst>
              <a:ext uri="{FF2B5EF4-FFF2-40B4-BE49-F238E27FC236}">
                <a16:creationId xmlns:a16="http://schemas.microsoft.com/office/drawing/2014/main" id="{588C0242-3991-5DA0-52F0-7753E597646F}"/>
              </a:ext>
            </a:extLst>
          </p:cNvPr>
          <p:cNvPicPr>
            <a:picLocks noChangeAspect="1"/>
          </p:cNvPicPr>
          <p:nvPr/>
        </p:nvPicPr>
        <p:blipFill>
          <a:blip r:embed="rId3"/>
          <a:stretch>
            <a:fillRect/>
          </a:stretch>
        </p:blipFill>
        <p:spPr>
          <a:xfrm>
            <a:off x="1466486" y="4233672"/>
            <a:ext cx="9259026" cy="2193987"/>
          </a:xfrm>
          <a:prstGeom prst="roundRect">
            <a:avLst>
              <a:gd name="adj" fmla="val 35812"/>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4" presetClass="emph" presetSubtype="0" fill="hold" grpId="0" nodeType="clickEffect">
                                  <p:stCondLst>
                                    <p:cond delay="0"/>
                                  </p:stCondLst>
                                  <p:iterate type="lt">
                                    <p:tmPct val="10000"/>
                                  </p:iterate>
                                  <p:childTnLst>
                                    <p:animMotion origin="layout" path="M 0.0 0.0 L 0.0 -0.07213" pathEditMode="relative" ptsTypes="">
                                      <p:cBhvr>
                                        <p:cTn id="11" dur="250" accel="50000" decel="50000" autoRev="1" fill="hold">
                                          <p:stCondLst>
                                            <p:cond delay="0"/>
                                          </p:stCondLst>
                                        </p:cTn>
                                        <p:tgtEl>
                                          <p:spTgt spid="4"/>
                                        </p:tgtEl>
                                        <p:attrNameLst>
                                          <p:attrName>ppt_x</p:attrName>
                                          <p:attrName>ppt_y</p:attrName>
                                        </p:attrNameLst>
                                      </p:cBhvr>
                                    </p:animMotion>
                                    <p:animRot by="1500000">
                                      <p:cBhvr>
                                        <p:cTn id="12" dur="125" fill="hold">
                                          <p:stCondLst>
                                            <p:cond delay="0"/>
                                          </p:stCondLst>
                                        </p:cTn>
                                        <p:tgtEl>
                                          <p:spTgt spid="4"/>
                                        </p:tgtEl>
                                        <p:attrNameLst>
                                          <p:attrName>r</p:attrName>
                                        </p:attrNameLst>
                                      </p:cBhvr>
                                    </p:animRot>
                                    <p:animRot by="-1500000">
                                      <p:cBhvr>
                                        <p:cTn id="13" dur="125" fill="hold">
                                          <p:stCondLst>
                                            <p:cond delay="125"/>
                                          </p:stCondLst>
                                        </p:cTn>
                                        <p:tgtEl>
                                          <p:spTgt spid="4"/>
                                        </p:tgtEl>
                                        <p:attrNameLst>
                                          <p:attrName>r</p:attrName>
                                        </p:attrNameLst>
                                      </p:cBhvr>
                                    </p:animRot>
                                    <p:animRot by="-1500000">
                                      <p:cBhvr>
                                        <p:cTn id="14" dur="125" fill="hold">
                                          <p:stCondLst>
                                            <p:cond delay="250"/>
                                          </p:stCondLst>
                                        </p:cTn>
                                        <p:tgtEl>
                                          <p:spTgt spid="4"/>
                                        </p:tgtEl>
                                        <p:attrNameLst>
                                          <p:attrName>r</p:attrName>
                                        </p:attrNameLst>
                                      </p:cBhvr>
                                    </p:animRot>
                                    <p:animRot by="1500000">
                                      <p:cBhvr>
                                        <p:cTn id="15" dur="125" fill="hold">
                                          <p:stCondLst>
                                            <p:cond delay="375"/>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1. Problem and motivation</a:t>
            </a:r>
            <a:endParaRPr lang="en-US" sz="3000" dirty="0"/>
          </a:p>
        </p:txBody>
      </p:sp>
      <p:sp>
        <p:nvSpPr>
          <p:cNvPr id="3" name="Text 1"/>
          <p:cNvSpPr/>
          <p:nvPr/>
        </p:nvSpPr>
        <p:spPr>
          <a:xfrm>
            <a:off x="585216" y="804672"/>
            <a:ext cx="9875520" cy="256032"/>
          </a:xfrm>
          <a:prstGeom prst="rect">
            <a:avLst/>
          </a:prstGeom>
          <a:noFill/>
          <a:ln/>
        </p:spPr>
        <p:txBody>
          <a:bodyPr wrap="square" lIns="0" tIns="0" rIns="0" bIns="0" rtlCol="0" anchor="ctr"/>
          <a:lstStyle/>
          <a:p>
            <a:pPr marL="0" indent="0">
              <a:buNone/>
            </a:pPr>
            <a:r>
              <a:rPr lang="en-US" sz="1250" dirty="0">
                <a:solidFill>
                  <a:srgbClr val="6B7280"/>
                </a:solidFill>
              </a:rPr>
              <a:t>Why this NLP task matters in real social media text</a:t>
            </a:r>
            <a:endParaRPr lang="en-US" sz="1250" dirty="0"/>
          </a:p>
        </p:txBody>
      </p:sp>
      <p:sp>
        <p:nvSpPr>
          <p:cNvPr id="4" name="Text 2"/>
          <p:cNvSpPr/>
          <p:nvPr/>
        </p:nvSpPr>
        <p:spPr>
          <a:xfrm>
            <a:off x="685800" y="1097280"/>
            <a:ext cx="4663440" cy="649224"/>
          </a:xfrm>
          <a:prstGeom prst="rect">
            <a:avLst/>
          </a:prstGeom>
          <a:noFill/>
          <a:ln/>
        </p:spPr>
        <p:txBody>
          <a:bodyPr wrap="square" lIns="0" tIns="0" rIns="0" bIns="0" rtlCol="0" anchor="ctr"/>
          <a:lstStyle/>
          <a:p>
            <a:pPr marL="0" indent="0">
              <a:buNone/>
            </a:pPr>
            <a:r>
              <a:rPr lang="en-US" sz="2200" b="1" dirty="0">
                <a:solidFill>
                  <a:srgbClr val="1F2937"/>
                </a:solidFill>
              </a:rPr>
              <a:t>People write short, messy text online:</a:t>
            </a:r>
            <a:endParaRPr lang="en-US" sz="2200" dirty="0"/>
          </a:p>
        </p:txBody>
      </p:sp>
      <p:sp>
        <p:nvSpPr>
          <p:cNvPr id="5" name="Text 3"/>
          <p:cNvSpPr/>
          <p:nvPr/>
        </p:nvSpPr>
        <p:spPr>
          <a:xfrm>
            <a:off x="749808" y="1993392"/>
            <a:ext cx="4983480" cy="411480"/>
          </a:xfrm>
          <a:prstGeom prst="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wrap="square" lIns="762" tIns="762" rIns="762" bIns="762" rtlCol="0" anchor="ctr"/>
          <a:lstStyle/>
          <a:p>
            <a:pPr marL="0" indent="0">
              <a:buNone/>
            </a:pPr>
            <a:r>
              <a:rPr lang="en-US" sz="2000" i="1" dirty="0">
                <a:solidFill>
                  <a:srgbClr val="1F2937"/>
                </a:solidFill>
              </a:rPr>
              <a:t>“Best birthday ever with my friends tonight”</a:t>
            </a:r>
            <a:endParaRPr lang="en-US" sz="2000" dirty="0"/>
          </a:p>
        </p:txBody>
      </p:sp>
      <p:sp>
        <p:nvSpPr>
          <p:cNvPr id="6" name="Text 4"/>
          <p:cNvSpPr/>
          <p:nvPr/>
        </p:nvSpPr>
        <p:spPr>
          <a:xfrm>
            <a:off x="749808" y="2542032"/>
            <a:ext cx="2464880" cy="438912"/>
          </a:xfrm>
          <a:prstGeom prst="rect">
            <a:avLst/>
          </a:prstGeom>
          <a:solidFill>
            <a:schemeClr val="accent2">
              <a:lumMod val="20000"/>
              <a:lumOff val="80000"/>
            </a:schemeClr>
          </a:solidFill>
          <a:ln>
            <a:noFill/>
          </a:ln>
        </p:spPr>
        <p:txBody>
          <a:bodyPr wrap="square" lIns="508" tIns="508" rIns="508" bIns="508" rtlCol="0" anchor="ctr"/>
          <a:lstStyle/>
          <a:p>
            <a:pPr marL="0" indent="0">
              <a:buNone/>
            </a:pPr>
            <a:r>
              <a:rPr lang="en-US" sz="2200" dirty="0">
                <a:solidFill>
                  <a:srgbClr val="1F2937"/>
                </a:solidFill>
                <a:latin typeface="Segoe UI Emoji" pitchFamily="34" charset="0"/>
                <a:ea typeface="Segoe UI Emoji" pitchFamily="34" charset="-122"/>
                <a:cs typeface="Segoe UI Emoji" pitchFamily="34" charset="-120"/>
              </a:rPr>
              <a:t>Possible prediction:</a:t>
            </a:r>
            <a:endParaRPr lang="en-US" sz="2200" dirty="0"/>
          </a:p>
        </p:txBody>
      </p:sp>
      <p:sp>
        <p:nvSpPr>
          <p:cNvPr id="7" name="Text 5"/>
          <p:cNvSpPr/>
          <p:nvPr/>
        </p:nvSpPr>
        <p:spPr>
          <a:xfrm>
            <a:off x="6096000" y="1761362"/>
            <a:ext cx="5634038" cy="1754505"/>
          </a:xfrm>
          <a:prstGeom prst="rect">
            <a:avLst/>
          </a:prstGeom>
          <a:noFill/>
          <a:ln/>
        </p:spPr>
        <p:txBody>
          <a:bodyPr wrap="square" lIns="635" tIns="635" rIns="635" bIns="635" rtlCol="0" anchor="ctr">
            <a:normAutofit lnSpcReduction="10000"/>
          </a:bodyPr>
          <a:lstStyle/>
          <a:p>
            <a:pPr marL="0" indent="0">
              <a:buNone/>
            </a:pPr>
            <a:r>
              <a:rPr lang="en-US" sz="2400" dirty="0">
                <a:solidFill>
                  <a:srgbClr val="1F2937"/>
                </a:solidFill>
              </a:rPr>
              <a:t>• Text alone lacks emotional depth and contextual tone.</a:t>
            </a:r>
            <a:endParaRPr lang="ar-JO" sz="2400" dirty="0">
              <a:solidFill>
                <a:srgbClr val="1F2937"/>
              </a:solidFill>
            </a:endParaRPr>
          </a:p>
          <a:p>
            <a:pPr marL="0" indent="0">
              <a:buNone/>
            </a:pPr>
            <a:r>
              <a:rPr lang="en-US" sz="2400" dirty="0">
                <a:solidFill>
                  <a:srgbClr val="1F2937"/>
                </a:solidFill>
              </a:rPr>
              <a:t>
• Emojis act as "digital body language" to provide instant intent.</a:t>
            </a:r>
            <a:endParaRPr lang="en-US" sz="2400" dirty="0"/>
          </a:p>
        </p:txBody>
      </p:sp>
      <p:sp>
        <p:nvSpPr>
          <p:cNvPr id="8" name="Text 6"/>
          <p:cNvSpPr/>
          <p:nvPr/>
        </p:nvSpPr>
        <p:spPr>
          <a:xfrm>
            <a:off x="731520" y="4160520"/>
            <a:ext cx="2926080" cy="320040"/>
          </a:xfrm>
          <a:prstGeom prst="rect">
            <a:avLst/>
          </a:prstGeom>
          <a:noFill/>
          <a:ln/>
        </p:spPr>
        <p:txBody>
          <a:bodyPr wrap="square" lIns="0" tIns="0" rIns="0" bIns="0" rtlCol="0" anchor="ctr"/>
          <a:lstStyle/>
          <a:p>
            <a:pPr marL="0" indent="0">
              <a:buNone/>
            </a:pPr>
            <a:r>
              <a:rPr lang="en-US" sz="2200" b="1" dirty="0">
                <a:solidFill>
                  <a:srgbClr val="1F2937"/>
                </a:solidFill>
              </a:rPr>
              <a:t>Project objective</a:t>
            </a:r>
            <a:endParaRPr lang="en-US" sz="2200" dirty="0"/>
          </a:p>
        </p:txBody>
      </p:sp>
      <p:sp>
        <p:nvSpPr>
          <p:cNvPr id="9" name="Text 7"/>
          <p:cNvSpPr/>
          <p:nvPr/>
        </p:nvSpPr>
        <p:spPr>
          <a:xfrm>
            <a:off x="749808" y="4617720"/>
            <a:ext cx="10561320" cy="841248"/>
          </a:xfrm>
          <a:prstGeom prst="rect">
            <a:avLst/>
          </a:prstGeom>
          <a:solidFill>
            <a:schemeClr val="accent2">
              <a:lumMod val="20000"/>
              <a:lumOff val="80000"/>
              <a:alpha val="92000"/>
            </a:schemeClr>
          </a:solidFill>
          <a:ln>
            <a:solidFill>
              <a:srgbClr val="E5E7EB"/>
            </a:solidFill>
          </a:ln>
        </p:spPr>
        <p:txBody>
          <a:bodyPr wrap="square" lIns="1905" tIns="1905" rIns="1905" bIns="1905" rtlCol="0" anchor="ctr">
            <a:normAutofit/>
          </a:bodyPr>
          <a:lstStyle/>
          <a:p>
            <a:pPr marL="0" indent="0" algn="ctr">
              <a:buNone/>
            </a:pPr>
            <a:r>
              <a:rPr lang="en-US" sz="2000" b="1" dirty="0">
                <a:solidFill>
                  <a:srgbClr val="1F2937"/>
                </a:solidFill>
              </a:rPr>
              <a:t>Build and compare models, then deploy the best one as a usable web application.</a:t>
            </a:r>
            <a:endParaRPr lang="en-US" sz="2000" dirty="0"/>
          </a:p>
        </p:txBody>
      </p:sp>
      <p:sp>
        <p:nvSpPr>
          <p:cNvPr id="10" name="Text 8"/>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2</a:t>
            </a:r>
            <a:endParaRPr lang="en-US" sz="850" dirty="0"/>
          </a:p>
        </p:txBody>
      </p:sp>
      <p:sp>
        <p:nvSpPr>
          <p:cNvPr id="11" name="TextBox 10">
            <a:extLst>
              <a:ext uri="{FF2B5EF4-FFF2-40B4-BE49-F238E27FC236}">
                <a16:creationId xmlns:a16="http://schemas.microsoft.com/office/drawing/2014/main" id="{840E6963-BC47-2E39-BAB6-8F2733005D15}"/>
              </a:ext>
            </a:extLst>
          </p:cNvPr>
          <p:cNvSpPr txBox="1"/>
          <p:nvPr/>
        </p:nvSpPr>
        <p:spPr>
          <a:xfrm>
            <a:off x="3241548" y="2523744"/>
            <a:ext cx="2382013" cy="523220"/>
          </a:xfrm>
          <a:prstGeom prst="rect">
            <a:avLst/>
          </a:prstGeom>
          <a:noFill/>
        </p:spPr>
        <p:txBody>
          <a:bodyPr wrap="square" rtlCol="0">
            <a:spAutoFit/>
          </a:bodyPr>
          <a:lstStyle/>
          <a:p>
            <a:r>
              <a:rPr lang="en-US" sz="2800" dirty="0">
                <a:solidFill>
                  <a:srgbClr val="1F2937"/>
                </a:solidFill>
                <a:latin typeface="Segoe UI Emoji" pitchFamily="34" charset="0"/>
                <a:ea typeface="Segoe UI Emoji" pitchFamily="34" charset="-122"/>
                <a:cs typeface="Segoe UI Emoji" pitchFamily="34" charset="-120"/>
              </a:rPr>
              <a:t>😂 / ❤ / ✨</a:t>
            </a:r>
            <a:endParaRPr lang="en-US" sz="2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0"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11"/>
                                        </p:tgtEl>
                                        <p:attrNameLst>
                                          <p:attrName>ppt_x</p:attrName>
                                          <p:attrName>ppt_y</p:attrName>
                                        </p:attrNameLst>
                                      </p:cBhvr>
                                    </p:animMotion>
                                    <p:animRot by="1500000">
                                      <p:cBhvr>
                                        <p:cTn id="15" dur="125" fill="hold">
                                          <p:stCondLst>
                                            <p:cond delay="0"/>
                                          </p:stCondLst>
                                        </p:cTn>
                                        <p:tgtEl>
                                          <p:spTgt spid="11"/>
                                        </p:tgtEl>
                                        <p:attrNameLst>
                                          <p:attrName>r</p:attrName>
                                        </p:attrNameLst>
                                      </p:cBhvr>
                                    </p:animRot>
                                    <p:animRot by="-1500000">
                                      <p:cBhvr>
                                        <p:cTn id="16" dur="125" fill="hold">
                                          <p:stCondLst>
                                            <p:cond delay="125"/>
                                          </p:stCondLst>
                                        </p:cTn>
                                        <p:tgtEl>
                                          <p:spTgt spid="11"/>
                                        </p:tgtEl>
                                        <p:attrNameLst>
                                          <p:attrName>r</p:attrName>
                                        </p:attrNameLst>
                                      </p:cBhvr>
                                    </p:animRot>
                                    <p:animRot by="-1500000">
                                      <p:cBhvr>
                                        <p:cTn id="17" dur="125" fill="hold">
                                          <p:stCondLst>
                                            <p:cond delay="250"/>
                                          </p:stCondLst>
                                        </p:cTn>
                                        <p:tgtEl>
                                          <p:spTgt spid="11"/>
                                        </p:tgtEl>
                                        <p:attrNameLst>
                                          <p:attrName>r</p:attrName>
                                        </p:attrNameLst>
                                      </p:cBhvr>
                                    </p:animRot>
                                    <p:animRot by="1500000">
                                      <p:cBhvr>
                                        <p:cTn id="18" dur="125" fill="hold">
                                          <p:stCondLst>
                                            <p:cond delay="375"/>
                                          </p:stCondLst>
                                        </p:cTn>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2. Dataset overview</a:t>
            </a:r>
            <a:endParaRPr lang="en-US" sz="3000" dirty="0"/>
          </a:p>
        </p:txBody>
      </p:sp>
      <p:sp>
        <p:nvSpPr>
          <p:cNvPr id="4" name="Text 2"/>
          <p:cNvSpPr/>
          <p:nvPr/>
        </p:nvSpPr>
        <p:spPr>
          <a:xfrm>
            <a:off x="502920" y="907542"/>
            <a:ext cx="3840480" cy="329184"/>
          </a:xfrm>
          <a:prstGeom prst="rect">
            <a:avLst/>
          </a:prstGeom>
          <a:noFill/>
          <a:ln/>
        </p:spPr>
        <p:txBody>
          <a:bodyPr wrap="square" lIns="0" tIns="0" rIns="0" bIns="0" rtlCol="0" anchor="ctr"/>
          <a:lstStyle/>
          <a:p>
            <a:pPr marL="0" indent="0">
              <a:buNone/>
            </a:pPr>
            <a:r>
              <a:rPr lang="en-US" sz="2200" b="1" dirty="0">
                <a:solidFill>
                  <a:srgbClr val="1F2937"/>
                </a:solidFill>
              </a:rPr>
              <a:t>11 target emoji classes</a:t>
            </a:r>
            <a:endParaRPr lang="en-US" sz="2200" dirty="0"/>
          </a:p>
        </p:txBody>
      </p:sp>
      <p:sp>
        <p:nvSpPr>
          <p:cNvPr id="5" name="Text 3"/>
          <p:cNvSpPr/>
          <p:nvPr/>
        </p:nvSpPr>
        <p:spPr>
          <a:xfrm>
            <a:off x="502920" y="1383030"/>
            <a:ext cx="4754880" cy="704088"/>
          </a:xfrm>
          <a:prstGeom prst="rect">
            <a:avLst/>
          </a:prstGeom>
          <a:noFill/>
          <a:ln/>
        </p:spPr>
        <p:txBody>
          <a:bodyPr wrap="square" lIns="0" tIns="0" rIns="0" bIns="0" rtlCol="0" anchor="ctr"/>
          <a:lstStyle/>
          <a:p>
            <a:pPr marL="0" indent="0">
              <a:buNone/>
            </a:pPr>
            <a:r>
              <a:rPr lang="en-US" sz="2100" dirty="0">
                <a:solidFill>
                  <a:srgbClr val="1F2937"/>
                </a:solidFill>
                <a:latin typeface="Segoe UI Emoji" pitchFamily="34" charset="0"/>
                <a:ea typeface="Segoe UI Emoji" pitchFamily="34" charset="-122"/>
                <a:cs typeface="Segoe UI Emoji" pitchFamily="34" charset="-120"/>
              </a:rPr>
              <a:t>❤ 😂 📷 😎😉 💯 🔥 ✨😊 😜 😁</a:t>
            </a:r>
            <a:endParaRPr lang="en-US" sz="2100" dirty="0"/>
          </a:p>
        </p:txBody>
      </p:sp>
      <p:sp>
        <p:nvSpPr>
          <p:cNvPr id="6" name="Text 4"/>
          <p:cNvSpPr/>
          <p:nvPr/>
        </p:nvSpPr>
        <p:spPr>
          <a:xfrm>
            <a:off x="6400800" y="1298448"/>
            <a:ext cx="3840480" cy="329184"/>
          </a:xfrm>
          <a:prstGeom prst="rect">
            <a:avLst/>
          </a:prstGeom>
          <a:noFill/>
          <a:ln/>
        </p:spPr>
        <p:txBody>
          <a:bodyPr wrap="square" lIns="0" tIns="0" rIns="0" bIns="0" rtlCol="0" anchor="ctr"/>
          <a:lstStyle/>
          <a:p>
            <a:pPr marL="0" indent="0">
              <a:buNone/>
            </a:pPr>
            <a:r>
              <a:rPr lang="en-US" sz="2200" b="1" dirty="0">
                <a:solidFill>
                  <a:srgbClr val="1F2937"/>
                </a:solidFill>
              </a:rPr>
              <a:t>Prepared files</a:t>
            </a:r>
            <a:endParaRPr lang="en-US" sz="2200" dirty="0"/>
          </a:p>
        </p:txBody>
      </p:sp>
      <p:sp>
        <p:nvSpPr>
          <p:cNvPr id="7" name="Text 5"/>
          <p:cNvSpPr/>
          <p:nvPr/>
        </p:nvSpPr>
        <p:spPr>
          <a:xfrm>
            <a:off x="6355080" y="1755648"/>
            <a:ext cx="1600200" cy="567842"/>
          </a:xfrm>
          <a:prstGeom prst="rect">
            <a:avLst/>
          </a:prstGeom>
          <a:solidFill>
            <a:srgbClr val="FFFFFF"/>
          </a:solidFill>
          <a:ln>
            <a:solidFill>
              <a:srgbClr val="F3F4F6"/>
            </a:solidFill>
          </a:ln>
        </p:spPr>
        <p:txBody>
          <a:bodyPr wrap="square" lIns="0" tIns="0" rIns="0" bIns="0" rtlCol="0" anchor="ctr"/>
          <a:lstStyle/>
          <a:p>
            <a:pPr marL="0" indent="0" algn="ctr">
              <a:buNone/>
            </a:pPr>
            <a:r>
              <a:rPr lang="en-US" sz="3100" b="1" dirty="0">
                <a:solidFill>
                  <a:srgbClr val="1F2937"/>
                </a:solidFill>
                <a:latin typeface="Aptos Display" pitchFamily="34" charset="0"/>
                <a:ea typeface="Aptos Display" pitchFamily="34" charset="-122"/>
                <a:cs typeface="Aptos Display" pitchFamily="34" charset="-120"/>
              </a:rPr>
              <a:t>58,498</a:t>
            </a:r>
            <a:endParaRPr lang="en-US" sz="3100" dirty="0"/>
          </a:p>
        </p:txBody>
      </p:sp>
      <p:sp>
        <p:nvSpPr>
          <p:cNvPr id="8" name="Text 6"/>
          <p:cNvSpPr/>
          <p:nvPr/>
        </p:nvSpPr>
        <p:spPr>
          <a:xfrm>
            <a:off x="6355080" y="2323490"/>
            <a:ext cx="1600200" cy="378562"/>
          </a:xfrm>
          <a:prstGeom prst="rect">
            <a:avLst/>
          </a:prstGeom>
          <a:solidFill>
            <a:srgbClr val="FFFFFF"/>
          </a:solidFill>
          <a:ln>
            <a:solidFill>
              <a:srgbClr val="F3F4F6"/>
            </a:solidFill>
          </a:ln>
        </p:spPr>
        <p:txBody>
          <a:bodyPr wrap="square" lIns="381" tIns="381" rIns="381" bIns="381" rtlCol="0" anchor="ctr"/>
          <a:lstStyle/>
          <a:p>
            <a:pPr marL="0" indent="0" algn="ctr">
              <a:buNone/>
            </a:pPr>
            <a:r>
              <a:rPr lang="en-US" sz="1200" dirty="0">
                <a:solidFill>
                  <a:srgbClr val="6B7280"/>
                </a:solidFill>
              </a:rPr>
              <a:t>training samples</a:t>
            </a:r>
            <a:endParaRPr lang="en-US" sz="1200" dirty="0"/>
          </a:p>
        </p:txBody>
      </p:sp>
      <p:sp>
        <p:nvSpPr>
          <p:cNvPr id="9" name="Text 7"/>
          <p:cNvSpPr/>
          <p:nvPr/>
        </p:nvSpPr>
        <p:spPr>
          <a:xfrm>
            <a:off x="8165592" y="1755648"/>
            <a:ext cx="1600200" cy="567842"/>
          </a:xfrm>
          <a:prstGeom prst="rect">
            <a:avLst/>
          </a:prstGeom>
          <a:solidFill>
            <a:srgbClr val="FFFFFF"/>
          </a:solidFill>
          <a:ln>
            <a:solidFill>
              <a:srgbClr val="F3F4F6"/>
            </a:solidFill>
          </a:ln>
        </p:spPr>
        <p:txBody>
          <a:bodyPr wrap="square" lIns="0" tIns="0" rIns="0" bIns="0" rtlCol="0" anchor="ctr"/>
          <a:lstStyle/>
          <a:p>
            <a:pPr marL="0" indent="0" algn="ctr">
              <a:buNone/>
            </a:pPr>
            <a:r>
              <a:rPr lang="en-US" sz="3100" b="1" dirty="0">
                <a:solidFill>
                  <a:srgbClr val="1F2937"/>
                </a:solidFill>
                <a:latin typeface="Aptos Display" pitchFamily="34" charset="0"/>
                <a:ea typeface="Aptos Display" pitchFamily="34" charset="-122"/>
                <a:cs typeface="Aptos Display" pitchFamily="34" charset="-120"/>
              </a:rPr>
              <a:t>4,922</a:t>
            </a:r>
            <a:endParaRPr lang="en-US" sz="3100" dirty="0"/>
          </a:p>
        </p:txBody>
      </p:sp>
      <p:sp>
        <p:nvSpPr>
          <p:cNvPr id="10" name="Text 8"/>
          <p:cNvSpPr/>
          <p:nvPr/>
        </p:nvSpPr>
        <p:spPr>
          <a:xfrm>
            <a:off x="8165592" y="2323490"/>
            <a:ext cx="1600200" cy="378562"/>
          </a:xfrm>
          <a:prstGeom prst="rect">
            <a:avLst/>
          </a:prstGeom>
          <a:solidFill>
            <a:srgbClr val="FFFFFF"/>
          </a:solidFill>
          <a:ln>
            <a:solidFill>
              <a:srgbClr val="F3F4F6"/>
            </a:solidFill>
          </a:ln>
        </p:spPr>
        <p:txBody>
          <a:bodyPr wrap="square" lIns="381" tIns="381" rIns="381" bIns="381" rtlCol="0" anchor="ctr"/>
          <a:lstStyle/>
          <a:p>
            <a:pPr marL="0" indent="0" algn="ctr">
              <a:buNone/>
            </a:pPr>
            <a:r>
              <a:rPr lang="en-US" sz="1200" dirty="0">
                <a:solidFill>
                  <a:srgbClr val="6B7280"/>
                </a:solidFill>
              </a:rPr>
              <a:t>validation samples</a:t>
            </a:r>
            <a:endParaRPr lang="en-US" sz="1200" dirty="0"/>
          </a:p>
        </p:txBody>
      </p:sp>
      <p:sp>
        <p:nvSpPr>
          <p:cNvPr id="11" name="Text 9"/>
          <p:cNvSpPr/>
          <p:nvPr/>
        </p:nvSpPr>
        <p:spPr>
          <a:xfrm>
            <a:off x="9976104" y="1755648"/>
            <a:ext cx="1600200" cy="567842"/>
          </a:xfrm>
          <a:prstGeom prst="rect">
            <a:avLst/>
          </a:prstGeom>
          <a:solidFill>
            <a:srgbClr val="FFFFFF"/>
          </a:solidFill>
          <a:ln>
            <a:solidFill>
              <a:srgbClr val="F3F4F6"/>
            </a:solidFill>
          </a:ln>
        </p:spPr>
        <p:txBody>
          <a:bodyPr wrap="square" lIns="0" tIns="0" rIns="0" bIns="0" rtlCol="0" anchor="ctr"/>
          <a:lstStyle/>
          <a:p>
            <a:pPr marL="0" indent="0" algn="ctr">
              <a:buNone/>
            </a:pPr>
            <a:r>
              <a:rPr lang="en-US" sz="3100" b="1" dirty="0">
                <a:solidFill>
                  <a:srgbClr val="1F2937"/>
                </a:solidFill>
                <a:latin typeface="Aptos Display" pitchFamily="34" charset="0"/>
                <a:ea typeface="Aptos Display" pitchFamily="34" charset="-122"/>
                <a:cs typeface="Aptos Display" pitchFamily="34" charset="-120"/>
              </a:rPr>
              <a:t>2,520</a:t>
            </a:r>
            <a:endParaRPr lang="en-US" sz="3100" dirty="0"/>
          </a:p>
        </p:txBody>
      </p:sp>
      <p:sp>
        <p:nvSpPr>
          <p:cNvPr id="12" name="Text 10"/>
          <p:cNvSpPr/>
          <p:nvPr/>
        </p:nvSpPr>
        <p:spPr>
          <a:xfrm>
            <a:off x="9976104" y="2323490"/>
            <a:ext cx="1600200" cy="378562"/>
          </a:xfrm>
          <a:prstGeom prst="rect">
            <a:avLst/>
          </a:prstGeom>
          <a:solidFill>
            <a:srgbClr val="FFFFFF"/>
          </a:solidFill>
          <a:ln>
            <a:solidFill>
              <a:srgbClr val="F3F4F6"/>
            </a:solidFill>
          </a:ln>
        </p:spPr>
        <p:txBody>
          <a:bodyPr wrap="square" lIns="381" tIns="381" rIns="381" bIns="381" rtlCol="0" anchor="ctr"/>
          <a:lstStyle/>
          <a:p>
            <a:pPr marL="0" indent="0" algn="ctr">
              <a:buNone/>
            </a:pPr>
            <a:r>
              <a:rPr lang="en-US" sz="1200" dirty="0">
                <a:solidFill>
                  <a:srgbClr val="6B7280"/>
                </a:solidFill>
              </a:rPr>
              <a:t>test samples</a:t>
            </a:r>
            <a:endParaRPr lang="en-US" sz="1200" dirty="0"/>
          </a:p>
        </p:txBody>
      </p:sp>
      <p:sp>
        <p:nvSpPr>
          <p:cNvPr id="13" name="Text 11"/>
          <p:cNvSpPr/>
          <p:nvPr/>
        </p:nvSpPr>
        <p:spPr>
          <a:xfrm>
            <a:off x="685800" y="3127248"/>
            <a:ext cx="4754880" cy="329184"/>
          </a:xfrm>
          <a:prstGeom prst="rect">
            <a:avLst/>
          </a:prstGeom>
          <a:noFill/>
          <a:ln/>
        </p:spPr>
        <p:txBody>
          <a:bodyPr wrap="square" lIns="0" tIns="0" rIns="0" bIns="0" rtlCol="0" anchor="ctr"/>
          <a:lstStyle/>
          <a:p>
            <a:pPr marL="0" indent="0">
              <a:buNone/>
            </a:pPr>
            <a:r>
              <a:rPr lang="en-US" sz="2200" b="1" dirty="0">
                <a:solidFill>
                  <a:srgbClr val="1F2937"/>
                </a:solidFill>
              </a:rPr>
              <a:t>Cleaning and balancing pipeline</a:t>
            </a:r>
            <a:endParaRPr lang="en-US" sz="2200" dirty="0"/>
          </a:p>
        </p:txBody>
      </p:sp>
      <p:sp>
        <p:nvSpPr>
          <p:cNvPr id="14" name="Text 12"/>
          <p:cNvSpPr/>
          <p:nvPr/>
        </p:nvSpPr>
        <p:spPr>
          <a:xfrm>
            <a:off x="713232" y="3584448"/>
            <a:ext cx="5166360" cy="2084832"/>
          </a:xfrm>
          <a:prstGeom prst="rect">
            <a:avLst/>
          </a:prstGeom>
          <a:noFill/>
          <a:ln/>
        </p:spPr>
        <p:txBody>
          <a:bodyPr wrap="square" lIns="635" tIns="635" rIns="635" bIns="635" rtlCol="0" anchor="ctr">
            <a:normAutofit/>
          </a:bodyPr>
          <a:lstStyle/>
          <a:p>
            <a:pPr marL="0" indent="0">
              <a:buNone/>
            </a:pPr>
            <a:r>
              <a:rPr lang="en-US" sz="1700" dirty="0">
                <a:solidFill>
                  <a:srgbClr val="1F2937"/>
                </a:solidFill>
              </a:rPr>
              <a:t>• Removed emojis from the input text to prevent label leakage.
• Replaced user mentions with @user and links with http.
• Decoded HTML/unicode symbols and removed duplicate sentences.
• Grouped similar emojis and oversampled minority classes.</a:t>
            </a:r>
            <a:endParaRPr lang="en-US" sz="1700" dirty="0"/>
          </a:p>
        </p:txBody>
      </p:sp>
      <p:sp>
        <p:nvSpPr>
          <p:cNvPr id="15" name="Text 13"/>
          <p:cNvSpPr/>
          <p:nvPr/>
        </p:nvSpPr>
        <p:spPr>
          <a:xfrm>
            <a:off x="6400800" y="2816352"/>
            <a:ext cx="3840480" cy="329184"/>
          </a:xfrm>
          <a:prstGeom prst="rect">
            <a:avLst/>
          </a:prstGeom>
          <a:noFill/>
          <a:ln/>
        </p:spPr>
        <p:txBody>
          <a:bodyPr wrap="square" lIns="0" tIns="0" rIns="0" bIns="0" rtlCol="0" anchor="ctr"/>
          <a:lstStyle/>
          <a:p>
            <a:pPr marL="0" indent="0">
              <a:buNone/>
            </a:pPr>
            <a:r>
              <a:rPr lang="en-US" sz="2200" b="1" dirty="0">
                <a:solidFill>
                  <a:srgbClr val="1F2937"/>
                </a:solidFill>
              </a:rPr>
              <a:t>Class-balance idea</a:t>
            </a:r>
            <a:endParaRPr lang="en-US" sz="2200" dirty="0"/>
          </a:p>
        </p:txBody>
      </p:sp>
      <p:sp>
        <p:nvSpPr>
          <p:cNvPr id="16" name="Text 14"/>
          <p:cNvSpPr/>
          <p:nvPr/>
        </p:nvSpPr>
        <p:spPr>
          <a:xfrm>
            <a:off x="6312410" y="3429000"/>
            <a:ext cx="5517640" cy="1399032"/>
          </a:xfrm>
          <a:prstGeom prst="rect">
            <a:avLst/>
          </a:prstGeom>
          <a:solidFill>
            <a:srgbClr val="FFFFFF"/>
          </a:solidFill>
          <a:ln>
            <a:solidFill>
              <a:srgbClr val="E5E7EB"/>
            </a:solidFill>
          </a:ln>
        </p:spPr>
        <p:txBody>
          <a:bodyPr wrap="square" lIns="762" tIns="762" rIns="762" bIns="762" rtlCol="0" anchor="ctr">
            <a:normAutofit/>
          </a:bodyPr>
          <a:lstStyle/>
          <a:p>
            <a:pPr marL="0" indent="0">
              <a:buNone/>
            </a:pPr>
            <a:r>
              <a:rPr lang="en-US" sz="1800" dirty="0">
                <a:solidFill>
                  <a:srgbClr val="1F2937"/>
                </a:solidFill>
              </a:rPr>
              <a:t>Frequent classes like 😂 and ❤ were balanced against rarer emojis such as 💯 and 😜 so the final model would not simply predict the most common class.</a:t>
            </a:r>
            <a:endParaRPr lang="en-US" sz="1800" dirty="0"/>
          </a:p>
        </p:txBody>
      </p:sp>
      <p:sp>
        <p:nvSpPr>
          <p:cNvPr id="17" name="Text 15"/>
          <p:cNvSpPr/>
          <p:nvPr/>
        </p:nvSpPr>
        <p:spPr>
          <a:xfrm>
            <a:off x="6419088" y="5166360"/>
            <a:ext cx="5074920" cy="475488"/>
          </a:xfrm>
          <a:prstGeom prst="rect">
            <a:avLst/>
          </a:prstGeom>
          <a:solidFill>
            <a:srgbClr val="ECFDF5"/>
          </a:solidFill>
          <a:ln>
            <a:solidFill>
              <a:srgbClr val="A7F3D0"/>
            </a:solidFill>
          </a:ln>
        </p:spPr>
        <p:txBody>
          <a:bodyPr wrap="square" lIns="0" tIns="0" rIns="0" bIns="0" rtlCol="0" anchor="ctr"/>
          <a:lstStyle/>
          <a:p>
            <a:pPr marL="0" indent="0" algn="ctr">
              <a:buNone/>
            </a:pPr>
            <a:r>
              <a:rPr lang="en-US" sz="2300" b="1" dirty="0">
                <a:solidFill>
                  <a:srgbClr val="0F766E"/>
                </a:solidFill>
              </a:rPr>
              <a:t>Total prepared examples: 65,940</a:t>
            </a:r>
            <a:endParaRPr lang="en-US" sz="2300" dirty="0"/>
          </a:p>
        </p:txBody>
      </p:sp>
      <p:sp>
        <p:nvSpPr>
          <p:cNvPr id="18" name="Text 16"/>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3</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with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5"/>
                                        </p:tgtEl>
                                        <p:attrNameLst>
                                          <p:attrName>ppt_x</p:attrName>
                                          <p:attrName>ppt_y</p:attrName>
                                        </p:attrNameLst>
                                      </p:cBhvr>
                                    </p:animMotion>
                                    <p:animRot by="1500000">
                                      <p:cBhvr>
                                        <p:cTn id="7" dur="125" fill="hold">
                                          <p:stCondLst>
                                            <p:cond delay="0"/>
                                          </p:stCondLst>
                                        </p:cTn>
                                        <p:tgtEl>
                                          <p:spTgt spid="5"/>
                                        </p:tgtEl>
                                        <p:attrNameLst>
                                          <p:attrName>r</p:attrName>
                                        </p:attrNameLst>
                                      </p:cBhvr>
                                    </p:animRot>
                                    <p:animRot by="-1500000">
                                      <p:cBhvr>
                                        <p:cTn id="8" dur="125" fill="hold">
                                          <p:stCondLst>
                                            <p:cond delay="125"/>
                                          </p:stCondLst>
                                        </p:cTn>
                                        <p:tgtEl>
                                          <p:spTgt spid="5"/>
                                        </p:tgtEl>
                                        <p:attrNameLst>
                                          <p:attrName>r</p:attrName>
                                        </p:attrNameLst>
                                      </p:cBhvr>
                                    </p:animRot>
                                    <p:animRot by="-1500000">
                                      <p:cBhvr>
                                        <p:cTn id="9" dur="125" fill="hold">
                                          <p:stCondLst>
                                            <p:cond delay="250"/>
                                          </p:stCondLst>
                                        </p:cTn>
                                        <p:tgtEl>
                                          <p:spTgt spid="5"/>
                                        </p:tgtEl>
                                        <p:attrNameLst>
                                          <p:attrName>r</p:attrName>
                                        </p:attrNameLst>
                                      </p:cBhvr>
                                    </p:animRot>
                                    <p:animRot by="1500000">
                                      <p:cBhvr>
                                        <p:cTn id="10" dur="125" fill="hold">
                                          <p:stCondLst>
                                            <p:cond delay="375"/>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3. Modeling strategy</a:t>
            </a:r>
            <a:endParaRPr lang="en-US" sz="3000" dirty="0"/>
          </a:p>
        </p:txBody>
      </p:sp>
      <p:sp>
        <p:nvSpPr>
          <p:cNvPr id="3" name="Text 1"/>
          <p:cNvSpPr/>
          <p:nvPr/>
        </p:nvSpPr>
        <p:spPr>
          <a:xfrm>
            <a:off x="585216" y="804672"/>
            <a:ext cx="9875520" cy="256032"/>
          </a:xfrm>
          <a:prstGeom prst="rect">
            <a:avLst/>
          </a:prstGeom>
          <a:noFill/>
          <a:ln/>
        </p:spPr>
        <p:txBody>
          <a:bodyPr wrap="square" lIns="0" tIns="0" rIns="0" bIns="0" rtlCol="0" anchor="ctr"/>
          <a:lstStyle/>
          <a:p>
            <a:pPr marL="0" indent="0">
              <a:buNone/>
            </a:pPr>
            <a:r>
              <a:rPr lang="en-US" sz="1250" dirty="0">
                <a:solidFill>
                  <a:srgbClr val="6B7280"/>
                </a:solidFill>
              </a:rPr>
              <a:t>We compared simple, pre-trained, and fine-tuned deep learning approaches</a:t>
            </a:r>
            <a:endParaRPr lang="en-US" sz="1250" dirty="0"/>
          </a:p>
        </p:txBody>
      </p:sp>
      <p:sp>
        <p:nvSpPr>
          <p:cNvPr id="4" name="Text 2"/>
          <p:cNvSpPr/>
          <p:nvPr/>
        </p:nvSpPr>
        <p:spPr>
          <a:xfrm>
            <a:off x="658368" y="1417320"/>
            <a:ext cx="3401568" cy="1965960"/>
          </a:xfrm>
          <a:prstGeom prst="rect">
            <a:avLst/>
          </a:prstGeom>
          <a:solidFill>
            <a:srgbClr val="FFFF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Model 1
TF‑IDF + Logistic Regression
</a:t>
            </a:r>
            <a:r>
              <a:rPr lang="en-US" sz="1700" dirty="0">
                <a:solidFill>
                  <a:srgbClr val="1F2937"/>
                </a:solidFill>
              </a:rPr>
              <a:t>Fast baseline using word/character n-grams and 15k features.</a:t>
            </a:r>
            <a:endParaRPr lang="en-US" sz="1700" dirty="0"/>
          </a:p>
        </p:txBody>
      </p:sp>
      <p:sp>
        <p:nvSpPr>
          <p:cNvPr id="5" name="Text 3"/>
          <p:cNvSpPr/>
          <p:nvPr/>
        </p:nvSpPr>
        <p:spPr>
          <a:xfrm>
            <a:off x="4407408" y="1417320"/>
            <a:ext cx="3401568" cy="1965960"/>
          </a:xfrm>
          <a:prstGeom prst="rect">
            <a:avLst/>
          </a:prstGeom>
          <a:solidFill>
            <a:srgbClr val="F5F3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Model 2
Pre-trained RoBERTa
</a:t>
            </a:r>
            <a:r>
              <a:rPr lang="en-US" sz="1700" dirty="0">
                <a:solidFill>
                  <a:srgbClr val="1F2937"/>
                </a:solidFill>
              </a:rPr>
              <a:t>Off-the-shelf twitter-roberta-base-emoji-latest, without extra training.</a:t>
            </a:r>
            <a:endParaRPr lang="en-US" sz="1700" dirty="0"/>
          </a:p>
        </p:txBody>
      </p:sp>
      <p:sp>
        <p:nvSpPr>
          <p:cNvPr id="6" name="Text 4"/>
          <p:cNvSpPr/>
          <p:nvPr/>
        </p:nvSpPr>
        <p:spPr>
          <a:xfrm>
            <a:off x="8156448" y="1417320"/>
            <a:ext cx="3401568" cy="1965960"/>
          </a:xfrm>
          <a:prstGeom prst="rect">
            <a:avLst/>
          </a:prstGeom>
          <a:solidFill>
            <a:srgbClr val="FFF7ED"/>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Model 3
FGM Fine‑Tuned RoBERTa
</a:t>
            </a:r>
            <a:r>
              <a:rPr lang="en-US" sz="1700" dirty="0">
                <a:solidFill>
                  <a:srgbClr val="1F2937"/>
                </a:solidFill>
              </a:rPr>
              <a:t>Custom fine-tuned transformer with robustness and class weighting.</a:t>
            </a:r>
            <a:endParaRPr lang="en-US" sz="1700" dirty="0"/>
          </a:p>
        </p:txBody>
      </p:sp>
      <p:sp>
        <p:nvSpPr>
          <p:cNvPr id="7" name="Text 5"/>
          <p:cNvSpPr/>
          <p:nvPr/>
        </p:nvSpPr>
        <p:spPr>
          <a:xfrm>
            <a:off x="685800" y="4041648"/>
            <a:ext cx="4206240" cy="329184"/>
          </a:xfrm>
          <a:prstGeom prst="rect">
            <a:avLst/>
          </a:prstGeom>
          <a:noFill/>
          <a:ln/>
        </p:spPr>
        <p:txBody>
          <a:bodyPr wrap="square" lIns="0" tIns="0" rIns="0" bIns="0" rtlCol="0" anchor="ctr"/>
          <a:lstStyle/>
          <a:p>
            <a:pPr marL="0" indent="0">
              <a:buNone/>
            </a:pPr>
            <a:r>
              <a:rPr lang="en-US" sz="2200" b="1" dirty="0">
                <a:solidFill>
                  <a:srgbClr val="1F2937"/>
                </a:solidFill>
              </a:rPr>
              <a:t>Why compare three models?</a:t>
            </a:r>
            <a:endParaRPr lang="en-US" sz="2200" dirty="0"/>
          </a:p>
        </p:txBody>
      </p:sp>
      <p:sp>
        <p:nvSpPr>
          <p:cNvPr id="8" name="Text 6"/>
          <p:cNvSpPr/>
          <p:nvPr/>
        </p:nvSpPr>
        <p:spPr>
          <a:xfrm>
            <a:off x="713232" y="4489704"/>
            <a:ext cx="5486400" cy="1508760"/>
          </a:xfrm>
          <a:prstGeom prst="rect">
            <a:avLst/>
          </a:prstGeom>
          <a:noFill/>
          <a:ln/>
        </p:spPr>
        <p:txBody>
          <a:bodyPr wrap="square" lIns="635" tIns="635" rIns="635" bIns="635" rtlCol="0" anchor="ctr">
            <a:normAutofit/>
          </a:bodyPr>
          <a:lstStyle/>
          <a:p>
            <a:pPr marL="0" indent="0">
              <a:buNone/>
            </a:pPr>
            <a:r>
              <a:rPr lang="en-US" sz="1700" dirty="0">
                <a:solidFill>
                  <a:srgbClr val="1F2937"/>
                </a:solidFill>
              </a:rPr>
              <a:t>• The baseline shows what a traditional model can do.
• The pre-trained model shows whether transfer learning works directly.
• The fine-tuned model tests whether training on our classes improves performance.</a:t>
            </a:r>
            <a:endParaRPr lang="en-US" sz="1700" dirty="0"/>
          </a:p>
        </p:txBody>
      </p:sp>
      <p:sp>
        <p:nvSpPr>
          <p:cNvPr id="9" name="Text 7"/>
          <p:cNvSpPr/>
          <p:nvPr/>
        </p:nvSpPr>
        <p:spPr>
          <a:xfrm>
            <a:off x="6629400" y="4041648"/>
            <a:ext cx="4206240" cy="329184"/>
          </a:xfrm>
          <a:prstGeom prst="rect">
            <a:avLst/>
          </a:prstGeom>
          <a:noFill/>
          <a:ln/>
        </p:spPr>
        <p:txBody>
          <a:bodyPr wrap="square" lIns="0" tIns="0" rIns="0" bIns="0" rtlCol="0" anchor="ctr"/>
          <a:lstStyle/>
          <a:p>
            <a:pPr marL="0" indent="0">
              <a:buNone/>
            </a:pPr>
            <a:r>
              <a:rPr lang="en-US" sz="2200" b="1" dirty="0">
                <a:solidFill>
                  <a:srgbClr val="1F2937"/>
                </a:solidFill>
              </a:rPr>
              <a:t>Selection logic</a:t>
            </a:r>
            <a:endParaRPr lang="en-US" sz="2200" dirty="0"/>
          </a:p>
        </p:txBody>
      </p:sp>
      <p:sp>
        <p:nvSpPr>
          <p:cNvPr id="10" name="Text 8"/>
          <p:cNvSpPr/>
          <p:nvPr/>
        </p:nvSpPr>
        <p:spPr>
          <a:xfrm>
            <a:off x="6629400" y="4498848"/>
            <a:ext cx="4800600" cy="868680"/>
          </a:xfrm>
          <a:prstGeom prst="rect">
            <a:avLst/>
          </a:prstGeom>
          <a:noFill/>
          <a:ln>
            <a:noFill/>
          </a:ln>
        </p:spPr>
        <p:txBody>
          <a:bodyPr wrap="square" lIns="762" tIns="762" rIns="762" bIns="762" rtlCol="0" anchor="ctr">
            <a:normAutofit/>
          </a:bodyPr>
          <a:lstStyle/>
          <a:p>
            <a:pPr marL="0" indent="0">
              <a:buNone/>
            </a:pPr>
            <a:r>
              <a:rPr lang="en-US" sz="1800" dirty="0">
                <a:solidFill>
                  <a:srgbClr val="1F2937"/>
                </a:solidFill>
              </a:rPr>
              <a:t>Final model chosen by test Accuracy + Macro F1, with Macro F1 emphasized because classes are not perfectly balanced.</a:t>
            </a:r>
            <a:endParaRPr lang="en-US" sz="1800" dirty="0"/>
          </a:p>
        </p:txBody>
      </p:sp>
      <p:sp>
        <p:nvSpPr>
          <p:cNvPr id="11" name="Text 9"/>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4</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4. Best model: FGM fine-tuned RoBERTa</a:t>
            </a:r>
            <a:endParaRPr lang="en-US" sz="3000" dirty="0"/>
          </a:p>
        </p:txBody>
      </p:sp>
      <p:sp>
        <p:nvSpPr>
          <p:cNvPr id="3" name="Text 1"/>
          <p:cNvSpPr/>
          <p:nvPr/>
        </p:nvSpPr>
        <p:spPr>
          <a:xfrm>
            <a:off x="585216" y="804672"/>
            <a:ext cx="9875520" cy="256032"/>
          </a:xfrm>
          <a:prstGeom prst="rect">
            <a:avLst/>
          </a:prstGeom>
          <a:noFill/>
          <a:ln/>
        </p:spPr>
        <p:txBody>
          <a:bodyPr wrap="square" lIns="0" tIns="0" rIns="0" bIns="0" rtlCol="0" anchor="ctr"/>
          <a:lstStyle/>
          <a:p>
            <a:pPr marL="0" indent="0">
              <a:buNone/>
            </a:pPr>
            <a:r>
              <a:rPr lang="en-US" sz="1250" dirty="0">
                <a:solidFill>
                  <a:srgbClr val="6B7280"/>
                </a:solidFill>
              </a:rPr>
              <a:t>Fine-tuning improved both contextual understanding and robustness</a:t>
            </a:r>
            <a:endParaRPr lang="en-US" sz="1250" dirty="0"/>
          </a:p>
        </p:txBody>
      </p:sp>
      <p:sp>
        <p:nvSpPr>
          <p:cNvPr id="4" name="Shape 2"/>
          <p:cNvSpPr/>
          <p:nvPr/>
        </p:nvSpPr>
        <p:spPr>
          <a:xfrm>
            <a:off x="2304288" y="2761488"/>
            <a:ext cx="740664" cy="0"/>
          </a:xfrm>
          <a:prstGeom prst="line">
            <a:avLst/>
          </a:prstGeom>
          <a:noFill/>
          <a:ln w="19050">
            <a:solidFill>
              <a:srgbClr val="6B7280"/>
            </a:solidFill>
            <a:prstDash val="solid"/>
            <a:headEnd type="none"/>
            <a:tailEnd type="triangle"/>
          </a:ln>
        </p:spPr>
        <p:txBody>
          <a:bodyPr/>
          <a:lstStyle/>
          <a:p>
            <a:endParaRPr lang="en-US"/>
          </a:p>
        </p:txBody>
      </p:sp>
      <p:sp>
        <p:nvSpPr>
          <p:cNvPr id="5" name="Shape 3"/>
          <p:cNvSpPr/>
          <p:nvPr/>
        </p:nvSpPr>
        <p:spPr>
          <a:xfrm>
            <a:off x="4864608" y="2761488"/>
            <a:ext cx="749808" cy="0"/>
          </a:xfrm>
          <a:prstGeom prst="line">
            <a:avLst/>
          </a:prstGeom>
          <a:noFill/>
          <a:ln w="19050">
            <a:solidFill>
              <a:srgbClr val="6B7280"/>
            </a:solidFill>
            <a:prstDash val="solid"/>
            <a:headEnd type="none"/>
            <a:tailEnd type="triangle"/>
          </a:ln>
        </p:spPr>
        <p:txBody>
          <a:bodyPr/>
          <a:lstStyle/>
          <a:p>
            <a:endParaRPr lang="en-US"/>
          </a:p>
        </p:txBody>
      </p:sp>
      <p:sp>
        <p:nvSpPr>
          <p:cNvPr id="6" name="Shape 4"/>
          <p:cNvSpPr/>
          <p:nvPr/>
        </p:nvSpPr>
        <p:spPr>
          <a:xfrm>
            <a:off x="7424928" y="2761488"/>
            <a:ext cx="749808" cy="0"/>
          </a:xfrm>
          <a:prstGeom prst="line">
            <a:avLst/>
          </a:prstGeom>
          <a:noFill/>
          <a:ln w="19050">
            <a:solidFill>
              <a:srgbClr val="6B7280"/>
            </a:solidFill>
            <a:prstDash val="solid"/>
            <a:headEnd type="none"/>
            <a:tailEnd type="triangle"/>
          </a:ln>
        </p:spPr>
        <p:txBody>
          <a:bodyPr/>
          <a:lstStyle/>
          <a:p>
            <a:endParaRPr lang="en-US"/>
          </a:p>
        </p:txBody>
      </p:sp>
      <p:sp>
        <p:nvSpPr>
          <p:cNvPr id="7" name="Text 5"/>
          <p:cNvSpPr/>
          <p:nvPr/>
        </p:nvSpPr>
        <p:spPr>
          <a:xfrm>
            <a:off x="685800" y="2057400"/>
            <a:ext cx="1600200" cy="1417320"/>
          </a:xfrm>
          <a:prstGeom prst="rect">
            <a:avLst/>
          </a:prstGeom>
          <a:solidFill>
            <a:srgbClr val="FFFF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Clean text
</a:t>
            </a:r>
            <a:r>
              <a:rPr lang="en-US" sz="1700" dirty="0">
                <a:solidFill>
                  <a:srgbClr val="1F2937"/>
                </a:solidFill>
              </a:rPr>
              <a:t>@user, http, no emojis</a:t>
            </a:r>
            <a:endParaRPr lang="en-US" sz="1700" dirty="0"/>
          </a:p>
        </p:txBody>
      </p:sp>
      <p:sp>
        <p:nvSpPr>
          <p:cNvPr id="8" name="Text 6"/>
          <p:cNvSpPr/>
          <p:nvPr/>
        </p:nvSpPr>
        <p:spPr>
          <a:xfrm>
            <a:off x="3063240" y="2057400"/>
            <a:ext cx="1600200" cy="1417320"/>
          </a:xfrm>
          <a:prstGeom prst="rect">
            <a:avLst/>
          </a:prstGeom>
          <a:solidFill>
            <a:srgbClr val="EEF2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Tokenizer
</a:t>
            </a:r>
            <a:r>
              <a:rPr lang="en-US" sz="1700" dirty="0">
                <a:solidFill>
                  <a:srgbClr val="1F2937"/>
                </a:solidFill>
              </a:rPr>
              <a:t>RoBERTa subwords</a:t>
            </a:r>
            <a:endParaRPr lang="en-US" sz="1700" dirty="0"/>
          </a:p>
        </p:txBody>
      </p:sp>
      <p:sp>
        <p:nvSpPr>
          <p:cNvPr id="9" name="Text 7"/>
          <p:cNvSpPr/>
          <p:nvPr/>
        </p:nvSpPr>
        <p:spPr>
          <a:xfrm>
            <a:off x="5623560" y="2057400"/>
            <a:ext cx="1600200" cy="1417320"/>
          </a:xfrm>
          <a:prstGeom prst="rect">
            <a:avLst/>
          </a:prstGeom>
          <a:solidFill>
            <a:srgbClr val="FFF7ED"/>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FGM training
</a:t>
            </a:r>
            <a:r>
              <a:rPr lang="en-US" sz="1700" dirty="0">
                <a:solidFill>
                  <a:srgbClr val="1F2937"/>
                </a:solidFill>
              </a:rPr>
              <a:t>small embedding perturbations</a:t>
            </a:r>
            <a:endParaRPr lang="en-US" sz="1700" dirty="0"/>
          </a:p>
        </p:txBody>
      </p:sp>
      <p:sp>
        <p:nvSpPr>
          <p:cNvPr id="10" name="Text 8"/>
          <p:cNvSpPr/>
          <p:nvPr/>
        </p:nvSpPr>
        <p:spPr>
          <a:xfrm>
            <a:off x="8183880" y="2057400"/>
            <a:ext cx="1600200" cy="1417320"/>
          </a:xfrm>
          <a:prstGeom prst="rect">
            <a:avLst/>
          </a:prstGeom>
          <a:solidFill>
            <a:srgbClr val="ECFDF5"/>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Emoji class
</a:t>
            </a:r>
            <a:r>
              <a:rPr lang="en-US" sz="1700" dirty="0">
                <a:solidFill>
                  <a:srgbClr val="1F2937"/>
                </a:solidFill>
              </a:rPr>
              <a:t>11-way prediction</a:t>
            </a:r>
            <a:endParaRPr lang="en-US" sz="1700" dirty="0"/>
          </a:p>
        </p:txBody>
      </p:sp>
      <p:sp>
        <p:nvSpPr>
          <p:cNvPr id="11" name="Text 9"/>
          <p:cNvSpPr/>
          <p:nvPr/>
        </p:nvSpPr>
        <p:spPr>
          <a:xfrm>
            <a:off x="676656" y="3712464"/>
            <a:ext cx="3840480" cy="329184"/>
          </a:xfrm>
          <a:prstGeom prst="rect">
            <a:avLst/>
          </a:prstGeom>
          <a:noFill/>
          <a:ln/>
        </p:spPr>
        <p:txBody>
          <a:bodyPr wrap="square" lIns="0" tIns="0" rIns="0" bIns="0" rtlCol="0" anchor="ctr"/>
          <a:lstStyle/>
          <a:p>
            <a:pPr marL="0" indent="0">
              <a:buNone/>
            </a:pPr>
            <a:r>
              <a:rPr lang="en-US" sz="2200" b="1" dirty="0">
                <a:solidFill>
                  <a:srgbClr val="1F2937"/>
                </a:solidFill>
              </a:rPr>
              <a:t>Training decisions</a:t>
            </a:r>
            <a:endParaRPr lang="en-US" sz="2200" dirty="0"/>
          </a:p>
        </p:txBody>
      </p:sp>
      <p:sp>
        <p:nvSpPr>
          <p:cNvPr id="12" name="Text 10"/>
          <p:cNvSpPr/>
          <p:nvPr/>
        </p:nvSpPr>
        <p:spPr>
          <a:xfrm>
            <a:off x="713232" y="4160521"/>
            <a:ext cx="5977128" cy="2057396"/>
          </a:xfrm>
          <a:prstGeom prst="rect">
            <a:avLst/>
          </a:prstGeom>
          <a:noFill/>
          <a:ln/>
        </p:spPr>
        <p:txBody>
          <a:bodyPr wrap="square" lIns="635" tIns="635" rIns="635" bIns="635" rtlCol="0" anchor="ctr">
            <a:normAutofit/>
          </a:bodyPr>
          <a:lstStyle/>
          <a:p>
            <a:pPr marL="0" indent="0">
              <a:buNone/>
            </a:pPr>
            <a:r>
              <a:rPr lang="en-US" sz="2000" dirty="0">
                <a:solidFill>
                  <a:srgbClr val="1F2937"/>
                </a:solidFill>
              </a:rPr>
              <a:t>• Class-weighted loss: gives more attention to minority classes.
• Hyperparameter search: learning rates and </a:t>
            </a:r>
            <a:r>
              <a:rPr lang="en-US" sz="2800" dirty="0">
                <a:solidFill>
                  <a:srgbClr val="1F2937"/>
                </a:solidFill>
              </a:rPr>
              <a:t>batch</a:t>
            </a:r>
            <a:r>
              <a:rPr lang="en-US" sz="2000" dirty="0">
                <a:solidFill>
                  <a:srgbClr val="1F2937"/>
                </a:solidFill>
              </a:rPr>
              <a:t> sizes.
• Early stopping: patience of 4 epochs using Validation Macro F1.</a:t>
            </a:r>
            <a:endParaRPr lang="en-US" sz="2000" dirty="0"/>
          </a:p>
        </p:txBody>
      </p:sp>
      <p:sp>
        <p:nvSpPr>
          <p:cNvPr id="13" name="Text 11"/>
          <p:cNvSpPr/>
          <p:nvPr/>
        </p:nvSpPr>
        <p:spPr>
          <a:xfrm>
            <a:off x="7223760" y="3831337"/>
            <a:ext cx="3840480" cy="329184"/>
          </a:xfrm>
          <a:prstGeom prst="rect">
            <a:avLst/>
          </a:prstGeom>
          <a:noFill/>
          <a:ln/>
        </p:spPr>
        <p:txBody>
          <a:bodyPr wrap="square" lIns="0" tIns="0" rIns="0" bIns="0" rtlCol="0" anchor="ctr"/>
          <a:lstStyle/>
          <a:p>
            <a:pPr marL="0" indent="0">
              <a:buNone/>
            </a:pPr>
            <a:r>
              <a:rPr lang="en-US" sz="2200" b="1" dirty="0">
                <a:solidFill>
                  <a:srgbClr val="1F2937"/>
                </a:solidFill>
              </a:rPr>
              <a:t>Why FGM helped</a:t>
            </a:r>
            <a:endParaRPr lang="en-US" sz="2200" dirty="0"/>
          </a:p>
        </p:txBody>
      </p:sp>
      <p:sp>
        <p:nvSpPr>
          <p:cNvPr id="14" name="Text 12"/>
          <p:cNvSpPr/>
          <p:nvPr/>
        </p:nvSpPr>
        <p:spPr>
          <a:xfrm>
            <a:off x="7223760" y="4160521"/>
            <a:ext cx="4892040" cy="1463040"/>
          </a:xfrm>
          <a:prstGeom prst="rect">
            <a:avLst/>
          </a:prstGeom>
          <a:noFill/>
          <a:ln>
            <a:noFill/>
          </a:ln>
        </p:spPr>
        <p:txBody>
          <a:bodyPr wrap="square" lIns="762" tIns="762" rIns="762" bIns="762" rtlCol="0" anchor="ctr">
            <a:normAutofit/>
          </a:bodyPr>
          <a:lstStyle/>
          <a:p>
            <a:pPr marL="0" indent="0">
              <a:buNone/>
            </a:pPr>
            <a:r>
              <a:rPr lang="en-US" sz="2000" dirty="0">
                <a:solidFill>
                  <a:srgbClr val="1F2937"/>
                </a:solidFill>
              </a:rPr>
              <a:t>FGM acts like a stress test during training. The model learns to stay stable even when the text representation changes slightly, which matches noisy social media writing.</a:t>
            </a:r>
            <a:endParaRPr lang="en-US" sz="2000" dirty="0"/>
          </a:p>
        </p:txBody>
      </p:sp>
      <p:sp>
        <p:nvSpPr>
          <p:cNvPr id="15" name="Text 13"/>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5</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1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9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28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5. Results: fine-tuning made the difference</a:t>
            </a:r>
            <a:endParaRPr lang="en-US" sz="3000" dirty="0"/>
          </a:p>
        </p:txBody>
      </p:sp>
      <p:sp>
        <p:nvSpPr>
          <p:cNvPr id="3" name="Text 1"/>
          <p:cNvSpPr/>
          <p:nvPr/>
        </p:nvSpPr>
        <p:spPr>
          <a:xfrm>
            <a:off x="585216" y="804672"/>
            <a:ext cx="9875520" cy="256032"/>
          </a:xfrm>
          <a:prstGeom prst="rect">
            <a:avLst/>
          </a:prstGeom>
          <a:noFill/>
          <a:ln/>
        </p:spPr>
        <p:txBody>
          <a:bodyPr wrap="square" lIns="0" tIns="0" rIns="0" bIns="0" rtlCol="0" anchor="ctr"/>
          <a:lstStyle/>
          <a:p>
            <a:pPr marL="0" indent="0">
              <a:buNone/>
            </a:pPr>
            <a:r>
              <a:rPr lang="en-US" sz="1600" dirty="0">
                <a:solidFill>
                  <a:srgbClr val="6B7280"/>
                </a:solidFill>
              </a:rPr>
              <a:t>Test accuracy and Macro F1 on the final held-out test set</a:t>
            </a:r>
            <a:endParaRPr lang="en-US" sz="1600" dirty="0"/>
          </a:p>
        </p:txBody>
      </p:sp>
      <p:pic>
        <p:nvPicPr>
          <p:cNvPr id="4" name="Image 0" descr="/mnt/data/report_unzip/word/media/image1.png"/>
          <p:cNvPicPr>
            <a:picLocks noChangeAspect="1"/>
          </p:cNvPicPr>
          <p:nvPr/>
        </p:nvPicPr>
        <p:blipFill>
          <a:blip r:embed="rId3"/>
          <a:stretch>
            <a:fillRect/>
          </a:stretch>
        </p:blipFill>
        <p:spPr>
          <a:xfrm>
            <a:off x="739140" y="1170432"/>
            <a:ext cx="6604635" cy="4297680"/>
          </a:xfrm>
          <a:prstGeom prst="rect">
            <a:avLst/>
          </a:prstGeom>
        </p:spPr>
      </p:pic>
      <p:sp>
        <p:nvSpPr>
          <p:cNvPr id="5" name="Text 2"/>
          <p:cNvSpPr/>
          <p:nvPr/>
        </p:nvSpPr>
        <p:spPr>
          <a:xfrm>
            <a:off x="8458200" y="570128"/>
            <a:ext cx="2487168" cy="666598"/>
          </a:xfrm>
          <a:prstGeom prst="rect">
            <a:avLst/>
          </a:prstGeom>
          <a:solidFill>
            <a:srgbClr val="ECFDF5"/>
          </a:solidFill>
          <a:ln>
            <a:solidFill>
              <a:srgbClr val="F3F4F6"/>
            </a:solidFill>
          </a:ln>
        </p:spPr>
        <p:txBody>
          <a:bodyPr wrap="square" lIns="0" tIns="0" rIns="0" bIns="0" rtlCol="0" anchor="ctr"/>
          <a:lstStyle/>
          <a:p>
            <a:pPr marL="0" indent="0" algn="ctr">
              <a:buNone/>
            </a:pPr>
            <a:r>
              <a:rPr lang="en-US" sz="3100" b="1" dirty="0">
                <a:solidFill>
                  <a:srgbClr val="0F766E"/>
                </a:solidFill>
                <a:latin typeface="Aptos Display" pitchFamily="34" charset="0"/>
                <a:ea typeface="Aptos Display" pitchFamily="34" charset="-122"/>
                <a:cs typeface="Aptos Display" pitchFamily="34" charset="-120"/>
              </a:rPr>
              <a:t>0.694</a:t>
            </a:r>
            <a:endParaRPr lang="en-US" sz="3100" dirty="0"/>
          </a:p>
        </p:txBody>
      </p:sp>
      <p:sp>
        <p:nvSpPr>
          <p:cNvPr id="6" name="Text 3"/>
          <p:cNvSpPr/>
          <p:nvPr/>
        </p:nvSpPr>
        <p:spPr>
          <a:xfrm>
            <a:off x="8458200" y="1236726"/>
            <a:ext cx="2487168" cy="444398"/>
          </a:xfrm>
          <a:prstGeom prst="rect">
            <a:avLst/>
          </a:prstGeom>
          <a:solidFill>
            <a:srgbClr val="ECFDF5"/>
          </a:solidFill>
          <a:ln>
            <a:solidFill>
              <a:srgbClr val="F3F4F6"/>
            </a:solidFill>
          </a:ln>
        </p:spPr>
        <p:txBody>
          <a:bodyPr wrap="square" lIns="381" tIns="381" rIns="381" bIns="381" rtlCol="0" anchor="ctr"/>
          <a:lstStyle/>
          <a:p>
            <a:pPr marL="0" indent="0" algn="ctr">
              <a:buNone/>
            </a:pPr>
            <a:r>
              <a:rPr lang="en-US" sz="1200" dirty="0">
                <a:solidFill>
                  <a:srgbClr val="6B7280"/>
                </a:solidFill>
              </a:rPr>
              <a:t>FGM test accuracy</a:t>
            </a:r>
            <a:endParaRPr lang="en-US" sz="1200" dirty="0"/>
          </a:p>
        </p:txBody>
      </p:sp>
      <p:sp>
        <p:nvSpPr>
          <p:cNvPr id="7" name="Text 4"/>
          <p:cNvSpPr/>
          <p:nvPr/>
        </p:nvSpPr>
        <p:spPr>
          <a:xfrm>
            <a:off x="8458200" y="1842287"/>
            <a:ext cx="2487168" cy="666598"/>
          </a:xfrm>
          <a:prstGeom prst="rect">
            <a:avLst/>
          </a:prstGeom>
          <a:solidFill>
            <a:srgbClr val="EEF2FF"/>
          </a:solidFill>
          <a:ln>
            <a:solidFill>
              <a:srgbClr val="F3F4F6"/>
            </a:solidFill>
          </a:ln>
        </p:spPr>
        <p:txBody>
          <a:bodyPr wrap="square" lIns="0" tIns="0" rIns="0" bIns="0" rtlCol="0" anchor="ctr"/>
          <a:lstStyle/>
          <a:p>
            <a:pPr marL="0" indent="0" algn="ctr">
              <a:buNone/>
            </a:pPr>
            <a:r>
              <a:rPr lang="en-US" sz="3100" b="1" dirty="0">
                <a:solidFill>
                  <a:srgbClr val="6C63FF"/>
                </a:solidFill>
                <a:latin typeface="Aptos Display" pitchFamily="34" charset="0"/>
                <a:ea typeface="Aptos Display" pitchFamily="34" charset="-122"/>
                <a:cs typeface="Aptos Display" pitchFamily="34" charset="-120"/>
              </a:rPr>
              <a:t>0.696</a:t>
            </a:r>
            <a:endParaRPr lang="en-US" sz="3100" dirty="0"/>
          </a:p>
        </p:txBody>
      </p:sp>
      <p:sp>
        <p:nvSpPr>
          <p:cNvPr id="8" name="Text 5"/>
          <p:cNvSpPr/>
          <p:nvPr/>
        </p:nvSpPr>
        <p:spPr>
          <a:xfrm>
            <a:off x="8458200" y="2508885"/>
            <a:ext cx="2487168" cy="444398"/>
          </a:xfrm>
          <a:prstGeom prst="rect">
            <a:avLst/>
          </a:prstGeom>
          <a:solidFill>
            <a:srgbClr val="EEF2FF"/>
          </a:solidFill>
          <a:ln>
            <a:solidFill>
              <a:srgbClr val="F3F4F6"/>
            </a:solidFill>
          </a:ln>
        </p:spPr>
        <p:txBody>
          <a:bodyPr wrap="square" lIns="381" tIns="381" rIns="381" bIns="381" rtlCol="0" anchor="ctr"/>
          <a:lstStyle/>
          <a:p>
            <a:pPr marL="0" indent="0" algn="ctr">
              <a:buNone/>
            </a:pPr>
            <a:r>
              <a:rPr lang="en-US" sz="1200" dirty="0">
                <a:solidFill>
                  <a:srgbClr val="6B7280"/>
                </a:solidFill>
              </a:rPr>
              <a:t>FGM Macro F1</a:t>
            </a:r>
            <a:endParaRPr lang="en-US" sz="1200" dirty="0"/>
          </a:p>
        </p:txBody>
      </p:sp>
      <p:sp>
        <p:nvSpPr>
          <p:cNvPr id="9" name="Text 6"/>
          <p:cNvSpPr/>
          <p:nvPr/>
        </p:nvSpPr>
        <p:spPr>
          <a:xfrm>
            <a:off x="8458200" y="3184968"/>
            <a:ext cx="2487168" cy="256032"/>
          </a:xfrm>
          <a:prstGeom prst="rect">
            <a:avLst/>
          </a:prstGeom>
          <a:noFill/>
          <a:ln/>
        </p:spPr>
        <p:txBody>
          <a:bodyPr wrap="square" lIns="0" tIns="0" rIns="0" bIns="0" rtlCol="0" anchor="ctr"/>
          <a:lstStyle/>
          <a:p>
            <a:pPr marL="0" indent="0" algn="ctr">
              <a:buNone/>
            </a:pPr>
            <a:r>
              <a:rPr lang="en-US" sz="2400" b="1" dirty="0">
                <a:solidFill>
                  <a:srgbClr val="1F2937"/>
                </a:solidFill>
              </a:rPr>
              <a:t>Key finding</a:t>
            </a:r>
            <a:endParaRPr lang="en-US" sz="2400" dirty="0"/>
          </a:p>
        </p:txBody>
      </p:sp>
      <p:sp>
        <p:nvSpPr>
          <p:cNvPr id="10" name="Text 7"/>
          <p:cNvSpPr/>
          <p:nvPr/>
        </p:nvSpPr>
        <p:spPr>
          <a:xfrm>
            <a:off x="7458075" y="3574730"/>
            <a:ext cx="4114801" cy="2478598"/>
          </a:xfrm>
          <a:prstGeom prst="rect">
            <a:avLst/>
          </a:prstGeom>
          <a:noFill/>
          <a:ln>
            <a:noFill/>
          </a:ln>
        </p:spPr>
        <p:txBody>
          <a:bodyPr wrap="square" lIns="762" tIns="762" rIns="762" bIns="762" rtlCol="0" anchor="ctr">
            <a:normAutofit/>
          </a:bodyPr>
          <a:lstStyle/>
          <a:p>
            <a:pPr marL="0" indent="0">
              <a:buNone/>
            </a:pPr>
            <a:r>
              <a:rPr lang="en-US" sz="2600" dirty="0">
                <a:solidFill>
                  <a:srgbClr val="1F2937"/>
                </a:solidFill>
              </a:rPr>
              <a:t>The off‑the‑shelf transformer performed poorly because it did not match our exact 11-class setup. Custom fine‑tuning adapted the model to our data</a:t>
            </a:r>
            <a:r>
              <a:rPr lang="en-US" sz="1450" dirty="0">
                <a:solidFill>
                  <a:srgbClr val="1F2937"/>
                </a:solidFill>
              </a:rPr>
              <a:t>.</a:t>
            </a:r>
            <a:endParaRPr lang="en-US" sz="1450" dirty="0"/>
          </a:p>
        </p:txBody>
      </p:sp>
      <p:sp>
        <p:nvSpPr>
          <p:cNvPr id="11" name="Text 8"/>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6</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6. Learning curves and error analysis</a:t>
            </a:r>
            <a:endParaRPr lang="en-US" sz="3000" dirty="0"/>
          </a:p>
        </p:txBody>
      </p:sp>
      <p:sp>
        <p:nvSpPr>
          <p:cNvPr id="3" name="Text 1"/>
          <p:cNvSpPr/>
          <p:nvPr/>
        </p:nvSpPr>
        <p:spPr>
          <a:xfrm>
            <a:off x="585216" y="804672"/>
            <a:ext cx="9875520" cy="256032"/>
          </a:xfrm>
          <a:prstGeom prst="rect">
            <a:avLst/>
          </a:prstGeom>
          <a:noFill/>
          <a:ln/>
        </p:spPr>
        <p:txBody>
          <a:bodyPr wrap="square" lIns="0" tIns="0" rIns="0" bIns="0" rtlCol="0" anchor="ctr"/>
          <a:lstStyle/>
          <a:p>
            <a:pPr marL="0" indent="0">
              <a:buNone/>
            </a:pPr>
            <a:r>
              <a:rPr lang="en-US" sz="1250" dirty="0">
                <a:solidFill>
                  <a:srgbClr val="6B7280"/>
                </a:solidFill>
              </a:rPr>
              <a:t>The model converged well and most mistakes were between similar emotions</a:t>
            </a:r>
            <a:endParaRPr lang="en-US" sz="1250" dirty="0"/>
          </a:p>
        </p:txBody>
      </p:sp>
      <p:pic>
        <p:nvPicPr>
          <p:cNvPr id="4" name="Image 0" descr="/mnt/data/report_unzip/word/media/image2.png"/>
          <p:cNvPicPr>
            <a:picLocks noChangeAspect="1"/>
          </p:cNvPicPr>
          <p:nvPr/>
        </p:nvPicPr>
        <p:blipFill>
          <a:blip r:embed="rId3"/>
          <a:stretch>
            <a:fillRect/>
          </a:stretch>
        </p:blipFill>
        <p:spPr>
          <a:xfrm>
            <a:off x="171004" y="1212864"/>
            <a:ext cx="4512964" cy="2504100"/>
          </a:xfrm>
          <a:prstGeom prst="rect">
            <a:avLst/>
          </a:prstGeom>
        </p:spPr>
      </p:pic>
      <p:pic>
        <p:nvPicPr>
          <p:cNvPr id="5" name="Image 1" descr="/mnt/data/report_unzip/word/media/image3.png"/>
          <p:cNvPicPr>
            <a:picLocks noChangeAspect="1"/>
          </p:cNvPicPr>
          <p:nvPr/>
        </p:nvPicPr>
        <p:blipFill>
          <a:blip r:embed="rId4"/>
          <a:stretch>
            <a:fillRect/>
          </a:stretch>
        </p:blipFill>
        <p:spPr>
          <a:xfrm>
            <a:off x="4777273" y="1135211"/>
            <a:ext cx="7364897" cy="3107605"/>
          </a:xfrm>
          <a:prstGeom prst="rect">
            <a:avLst/>
          </a:prstGeom>
        </p:spPr>
      </p:pic>
      <p:sp>
        <p:nvSpPr>
          <p:cNvPr id="6" name="Text 2"/>
          <p:cNvSpPr/>
          <p:nvPr/>
        </p:nvSpPr>
        <p:spPr>
          <a:xfrm>
            <a:off x="324612" y="4009572"/>
            <a:ext cx="3840480" cy="310896"/>
          </a:xfrm>
          <a:prstGeom prst="rect">
            <a:avLst/>
          </a:prstGeom>
          <a:noFill/>
          <a:ln/>
        </p:spPr>
        <p:txBody>
          <a:bodyPr wrap="square" lIns="0" tIns="0" rIns="0" bIns="0" rtlCol="0" anchor="ctr"/>
          <a:lstStyle/>
          <a:p>
            <a:pPr marL="0" indent="0">
              <a:buNone/>
            </a:pPr>
            <a:r>
              <a:rPr lang="en-US" sz="2100" b="1" dirty="0">
                <a:solidFill>
                  <a:srgbClr val="1F2937"/>
                </a:solidFill>
              </a:rPr>
              <a:t>What the visuals show</a:t>
            </a:r>
            <a:endParaRPr lang="en-US" sz="2100" dirty="0"/>
          </a:p>
        </p:txBody>
      </p:sp>
      <p:sp>
        <p:nvSpPr>
          <p:cNvPr id="7" name="Text 3"/>
          <p:cNvSpPr/>
          <p:nvPr/>
        </p:nvSpPr>
        <p:spPr>
          <a:xfrm>
            <a:off x="324612" y="4394975"/>
            <a:ext cx="6035040" cy="1764793"/>
          </a:xfrm>
          <a:prstGeom prst="rect">
            <a:avLst/>
          </a:prstGeom>
          <a:noFill/>
          <a:ln/>
        </p:spPr>
        <p:txBody>
          <a:bodyPr wrap="square" lIns="635" tIns="635" rIns="635" bIns="635" rtlCol="0" anchor="ctr">
            <a:normAutofit/>
          </a:bodyPr>
          <a:lstStyle/>
          <a:p>
            <a:pPr marL="0" indent="0">
              <a:buNone/>
            </a:pPr>
            <a:r>
              <a:rPr lang="en-US" sz="2000" dirty="0">
                <a:solidFill>
                  <a:srgbClr val="1F2937"/>
                </a:solidFill>
              </a:rPr>
              <a:t>• Training loss decreased smoothly across epochs.
• Validation accuracy and Macro F1 stabilized instead of collapsing.
• The FGM confusion matrix has a strong diagonal, meaning many correct predictions.</a:t>
            </a:r>
            <a:endParaRPr lang="en-US" sz="2000" dirty="0"/>
          </a:p>
        </p:txBody>
      </p:sp>
      <p:sp>
        <p:nvSpPr>
          <p:cNvPr id="8" name="Text 4"/>
          <p:cNvSpPr/>
          <p:nvPr/>
        </p:nvSpPr>
        <p:spPr>
          <a:xfrm>
            <a:off x="6537960" y="4535424"/>
            <a:ext cx="3840480" cy="310896"/>
          </a:xfrm>
          <a:prstGeom prst="rect">
            <a:avLst/>
          </a:prstGeom>
          <a:noFill/>
          <a:ln/>
        </p:spPr>
        <p:txBody>
          <a:bodyPr wrap="square" lIns="0" tIns="0" rIns="0" bIns="0" rtlCol="0" anchor="ctr"/>
          <a:lstStyle/>
          <a:p>
            <a:pPr marL="0" indent="0">
              <a:buNone/>
            </a:pPr>
            <a:r>
              <a:rPr lang="en-US" sz="2100" b="1" dirty="0">
                <a:solidFill>
                  <a:srgbClr val="1F2937"/>
                </a:solidFill>
              </a:rPr>
              <a:t>Interpretation</a:t>
            </a:r>
            <a:endParaRPr lang="en-US" sz="2100" dirty="0"/>
          </a:p>
        </p:txBody>
      </p:sp>
      <p:sp>
        <p:nvSpPr>
          <p:cNvPr id="9" name="Text 5"/>
          <p:cNvSpPr/>
          <p:nvPr/>
        </p:nvSpPr>
        <p:spPr>
          <a:xfrm>
            <a:off x="6537960" y="4846320"/>
            <a:ext cx="5425440" cy="1586678"/>
          </a:xfrm>
          <a:prstGeom prst="rect">
            <a:avLst/>
          </a:prstGeom>
          <a:noFill/>
          <a:ln>
            <a:noFill/>
          </a:ln>
        </p:spPr>
        <p:txBody>
          <a:bodyPr wrap="square" lIns="762" tIns="762" rIns="762" bIns="762" rtlCol="0" anchor="ctr">
            <a:normAutofit/>
          </a:bodyPr>
          <a:lstStyle/>
          <a:p>
            <a:pPr marL="0" indent="0">
              <a:buNone/>
            </a:pPr>
            <a:r>
              <a:rPr lang="en-US" sz="2000" dirty="0">
                <a:solidFill>
                  <a:srgbClr val="1F2937"/>
                </a:solidFill>
              </a:rPr>
              <a:t>Remaining errors are understandable: emojis like 😊, 😁, and 😂 can appear in very similar contexts, so even humans may disagree sometimes.</a:t>
            </a:r>
            <a:endParaRPr lang="en-US" sz="2000" dirty="0"/>
          </a:p>
        </p:txBody>
      </p:sp>
      <p:sp>
        <p:nvSpPr>
          <p:cNvPr id="10" name="Text 6"/>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7</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7. Deployment architecture</a:t>
            </a:r>
            <a:endParaRPr lang="en-US" sz="3000" dirty="0"/>
          </a:p>
        </p:txBody>
      </p:sp>
      <p:sp>
        <p:nvSpPr>
          <p:cNvPr id="4" name="Shape 2"/>
          <p:cNvSpPr/>
          <p:nvPr/>
        </p:nvSpPr>
        <p:spPr>
          <a:xfrm>
            <a:off x="2084832" y="2304288"/>
            <a:ext cx="694944" cy="0"/>
          </a:xfrm>
          <a:prstGeom prst="line">
            <a:avLst/>
          </a:prstGeom>
          <a:noFill/>
          <a:ln w="19050">
            <a:solidFill>
              <a:srgbClr val="6B7280"/>
            </a:solidFill>
            <a:prstDash val="solid"/>
            <a:headEnd type="none"/>
            <a:tailEnd type="triangle"/>
          </a:ln>
        </p:spPr>
        <p:txBody>
          <a:bodyPr/>
          <a:lstStyle/>
          <a:p>
            <a:endParaRPr lang="en-US"/>
          </a:p>
        </p:txBody>
      </p:sp>
      <p:sp>
        <p:nvSpPr>
          <p:cNvPr id="5" name="Shape 3"/>
          <p:cNvSpPr/>
          <p:nvPr/>
        </p:nvSpPr>
        <p:spPr>
          <a:xfrm>
            <a:off x="4535424" y="2304288"/>
            <a:ext cx="713232" cy="0"/>
          </a:xfrm>
          <a:prstGeom prst="line">
            <a:avLst/>
          </a:prstGeom>
          <a:noFill/>
          <a:ln w="19050">
            <a:solidFill>
              <a:srgbClr val="6B7280"/>
            </a:solidFill>
            <a:prstDash val="solid"/>
            <a:headEnd type="none"/>
            <a:tailEnd type="triangle"/>
          </a:ln>
        </p:spPr>
        <p:txBody>
          <a:bodyPr/>
          <a:lstStyle/>
          <a:p>
            <a:endParaRPr lang="en-US"/>
          </a:p>
        </p:txBody>
      </p:sp>
      <p:sp>
        <p:nvSpPr>
          <p:cNvPr id="6" name="Shape 4"/>
          <p:cNvSpPr/>
          <p:nvPr/>
        </p:nvSpPr>
        <p:spPr>
          <a:xfrm>
            <a:off x="7004304" y="2304288"/>
            <a:ext cx="713232" cy="0"/>
          </a:xfrm>
          <a:prstGeom prst="line">
            <a:avLst/>
          </a:prstGeom>
          <a:noFill/>
          <a:ln w="19050">
            <a:solidFill>
              <a:srgbClr val="6B7280"/>
            </a:solidFill>
            <a:prstDash val="solid"/>
            <a:headEnd type="none"/>
            <a:tailEnd type="triangle"/>
          </a:ln>
        </p:spPr>
        <p:txBody>
          <a:bodyPr/>
          <a:lstStyle/>
          <a:p>
            <a:endParaRPr lang="en-US"/>
          </a:p>
        </p:txBody>
      </p:sp>
      <p:sp>
        <p:nvSpPr>
          <p:cNvPr id="7" name="Shape 5"/>
          <p:cNvSpPr/>
          <p:nvPr/>
        </p:nvSpPr>
        <p:spPr>
          <a:xfrm>
            <a:off x="9473184" y="2304288"/>
            <a:ext cx="713232" cy="0"/>
          </a:xfrm>
          <a:prstGeom prst="line">
            <a:avLst/>
          </a:prstGeom>
          <a:noFill/>
          <a:ln w="19050">
            <a:solidFill>
              <a:srgbClr val="6B7280"/>
            </a:solidFill>
            <a:prstDash val="solid"/>
            <a:headEnd type="none"/>
            <a:tailEnd type="triangle"/>
          </a:ln>
        </p:spPr>
        <p:txBody>
          <a:bodyPr/>
          <a:lstStyle/>
          <a:p>
            <a:endParaRPr lang="en-US"/>
          </a:p>
        </p:txBody>
      </p:sp>
      <p:sp>
        <p:nvSpPr>
          <p:cNvPr id="8" name="Text 6"/>
          <p:cNvSpPr/>
          <p:nvPr/>
        </p:nvSpPr>
        <p:spPr>
          <a:xfrm>
            <a:off x="685800" y="1627632"/>
            <a:ext cx="1417320" cy="1353312"/>
          </a:xfrm>
          <a:prstGeom prst="rect">
            <a:avLst/>
          </a:prstGeom>
          <a:solidFill>
            <a:srgbClr val="FFFF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User input
</a:t>
            </a:r>
            <a:r>
              <a:rPr lang="en-US" sz="1700" dirty="0">
                <a:solidFill>
                  <a:srgbClr val="1F2937"/>
                </a:solidFill>
              </a:rPr>
              <a:t>Arabic or English text</a:t>
            </a:r>
            <a:endParaRPr lang="en-US" sz="1700" dirty="0"/>
          </a:p>
        </p:txBody>
      </p:sp>
      <p:sp>
        <p:nvSpPr>
          <p:cNvPr id="9" name="Text 7"/>
          <p:cNvSpPr/>
          <p:nvPr/>
        </p:nvSpPr>
        <p:spPr>
          <a:xfrm>
            <a:off x="2788920" y="1627632"/>
            <a:ext cx="1737360" cy="1353312"/>
          </a:xfrm>
          <a:prstGeom prst="rect">
            <a:avLst/>
          </a:prstGeom>
          <a:solidFill>
            <a:srgbClr val="EEF2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Translation
</a:t>
            </a:r>
            <a:r>
              <a:rPr lang="en-US" sz="1700" dirty="0">
                <a:solidFill>
                  <a:srgbClr val="1F2937"/>
                </a:solidFill>
              </a:rPr>
              <a:t>MyMemory API</a:t>
            </a:r>
            <a:endParaRPr lang="en-US" sz="1700" dirty="0"/>
          </a:p>
        </p:txBody>
      </p:sp>
      <p:sp>
        <p:nvSpPr>
          <p:cNvPr id="10" name="Text 8"/>
          <p:cNvSpPr/>
          <p:nvPr/>
        </p:nvSpPr>
        <p:spPr>
          <a:xfrm>
            <a:off x="5257800" y="1627632"/>
            <a:ext cx="1737360" cy="1353312"/>
          </a:xfrm>
          <a:prstGeom prst="rect">
            <a:avLst/>
          </a:prstGeom>
          <a:solidFill>
            <a:srgbClr val="FFF7ED"/>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Rule engine
</a:t>
            </a:r>
            <a:r>
              <a:rPr lang="en-US" sz="1700" dirty="0">
                <a:solidFill>
                  <a:srgbClr val="1F2937"/>
                </a:solidFill>
              </a:rPr>
              <a:t>sad / angry / coffee / sleep</a:t>
            </a:r>
            <a:endParaRPr lang="en-US" sz="1700" dirty="0"/>
          </a:p>
        </p:txBody>
      </p:sp>
      <p:sp>
        <p:nvSpPr>
          <p:cNvPr id="11" name="Text 9"/>
          <p:cNvSpPr/>
          <p:nvPr/>
        </p:nvSpPr>
        <p:spPr>
          <a:xfrm>
            <a:off x="7726680" y="1627632"/>
            <a:ext cx="1737360" cy="1353312"/>
          </a:xfrm>
          <a:prstGeom prst="rect">
            <a:avLst/>
          </a:prstGeom>
          <a:solidFill>
            <a:srgbClr val="ECFDF5"/>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ML backend
</a:t>
            </a:r>
            <a:r>
              <a:rPr lang="en-US" sz="1700" dirty="0">
                <a:solidFill>
                  <a:srgbClr val="1F2937"/>
                </a:solidFill>
              </a:rPr>
              <a:t>Hugging Face Space + Gradio</a:t>
            </a:r>
            <a:endParaRPr lang="en-US" sz="1700" dirty="0"/>
          </a:p>
        </p:txBody>
      </p:sp>
      <p:sp>
        <p:nvSpPr>
          <p:cNvPr id="12" name="Text 10"/>
          <p:cNvSpPr/>
          <p:nvPr/>
        </p:nvSpPr>
        <p:spPr>
          <a:xfrm>
            <a:off x="10195560" y="1627632"/>
            <a:ext cx="1325880" cy="1353312"/>
          </a:xfrm>
          <a:prstGeom prst="rect">
            <a:avLst/>
          </a:prstGeom>
          <a:solidFill>
            <a:srgbClr val="FFFFFF"/>
          </a:solidFill>
          <a:ln>
            <a:solidFill>
              <a:srgbClr val="E5E7EB">
                <a:alpha val="80000"/>
              </a:srgbClr>
            </a:solidFill>
          </a:ln>
        </p:spPr>
        <p:txBody>
          <a:bodyPr wrap="square" lIns="1524" tIns="1524" rIns="1524" bIns="1524" rtlCol="0" anchor="ctr">
            <a:normAutofit/>
          </a:bodyPr>
          <a:lstStyle/>
          <a:p>
            <a:pPr marL="0" indent="0" algn="ctr">
              <a:buNone/>
            </a:pPr>
            <a:r>
              <a:rPr lang="en-US" sz="1700" b="1" dirty="0">
                <a:solidFill>
                  <a:srgbClr val="1F2937"/>
                </a:solidFill>
              </a:rPr>
              <a:t>Prediction
</a:t>
            </a:r>
            <a:r>
              <a:rPr lang="en-US" sz="1700" dirty="0">
                <a:solidFill>
                  <a:srgbClr val="1F2937"/>
                </a:solidFill>
              </a:rPr>
              <a:t>emoji + confidence</a:t>
            </a:r>
            <a:endParaRPr lang="en-US" sz="1700" dirty="0"/>
          </a:p>
        </p:txBody>
      </p:sp>
      <p:sp>
        <p:nvSpPr>
          <p:cNvPr id="13" name="Text 11"/>
          <p:cNvSpPr/>
          <p:nvPr/>
        </p:nvSpPr>
        <p:spPr>
          <a:xfrm>
            <a:off x="685800" y="3977640"/>
            <a:ext cx="3108960" cy="292608"/>
          </a:xfrm>
          <a:prstGeom prst="rect">
            <a:avLst/>
          </a:prstGeom>
          <a:noFill/>
          <a:ln/>
        </p:spPr>
        <p:txBody>
          <a:bodyPr wrap="square" lIns="0" tIns="0" rIns="0" bIns="0" rtlCol="0" anchor="ctr"/>
          <a:lstStyle/>
          <a:p>
            <a:pPr marL="0" indent="0">
              <a:buNone/>
            </a:pPr>
            <a:r>
              <a:rPr lang="en-US" sz="2100" b="1" dirty="0">
                <a:solidFill>
                  <a:srgbClr val="1F2937"/>
                </a:solidFill>
              </a:rPr>
              <a:t>Frontend</a:t>
            </a:r>
            <a:endParaRPr lang="en-US" sz="2100" dirty="0"/>
          </a:p>
        </p:txBody>
      </p:sp>
      <p:sp>
        <p:nvSpPr>
          <p:cNvPr id="14" name="Text 12"/>
          <p:cNvSpPr/>
          <p:nvPr/>
        </p:nvSpPr>
        <p:spPr>
          <a:xfrm>
            <a:off x="713232" y="4370832"/>
            <a:ext cx="3657600" cy="1170432"/>
          </a:xfrm>
          <a:prstGeom prst="rect">
            <a:avLst/>
          </a:prstGeom>
          <a:noFill/>
          <a:ln/>
        </p:spPr>
        <p:txBody>
          <a:bodyPr wrap="square" lIns="635" tIns="635" rIns="635" bIns="635" rtlCol="0" anchor="ctr">
            <a:normAutofit/>
          </a:bodyPr>
          <a:lstStyle/>
          <a:p>
            <a:pPr marL="0" indent="0">
              <a:buNone/>
            </a:pPr>
            <a:r>
              <a:rPr lang="en-US" sz="1550" dirty="0">
                <a:solidFill>
                  <a:srgbClr val="1F2937"/>
                </a:solidFill>
              </a:rPr>
              <a:t>• React + TypeScript + Vite + TailwindCSS
• Firebase Hosting
• Responsive dark/light UI</a:t>
            </a:r>
            <a:endParaRPr lang="en-US" sz="1550" dirty="0"/>
          </a:p>
        </p:txBody>
      </p:sp>
      <p:sp>
        <p:nvSpPr>
          <p:cNvPr id="15" name="Text 13"/>
          <p:cNvSpPr/>
          <p:nvPr/>
        </p:nvSpPr>
        <p:spPr>
          <a:xfrm>
            <a:off x="4617720" y="3977640"/>
            <a:ext cx="3108960" cy="292608"/>
          </a:xfrm>
          <a:prstGeom prst="rect">
            <a:avLst/>
          </a:prstGeom>
          <a:noFill/>
          <a:ln/>
        </p:spPr>
        <p:txBody>
          <a:bodyPr wrap="square" lIns="0" tIns="0" rIns="0" bIns="0" rtlCol="0" anchor="ctr"/>
          <a:lstStyle/>
          <a:p>
            <a:pPr marL="0" indent="0">
              <a:buNone/>
            </a:pPr>
            <a:r>
              <a:rPr lang="en-US" sz="2100" b="1" dirty="0">
                <a:solidFill>
                  <a:srgbClr val="1F2937"/>
                </a:solidFill>
              </a:rPr>
              <a:t>Backend</a:t>
            </a:r>
            <a:endParaRPr lang="en-US" sz="2100" dirty="0"/>
          </a:p>
        </p:txBody>
      </p:sp>
      <p:sp>
        <p:nvSpPr>
          <p:cNvPr id="16" name="Text 14"/>
          <p:cNvSpPr/>
          <p:nvPr/>
        </p:nvSpPr>
        <p:spPr>
          <a:xfrm>
            <a:off x="4645152" y="4370832"/>
            <a:ext cx="3657600" cy="1170432"/>
          </a:xfrm>
          <a:prstGeom prst="rect">
            <a:avLst/>
          </a:prstGeom>
          <a:noFill/>
          <a:ln/>
        </p:spPr>
        <p:txBody>
          <a:bodyPr wrap="square" lIns="635" tIns="635" rIns="635" bIns="635" rtlCol="0" anchor="ctr">
            <a:normAutofit/>
          </a:bodyPr>
          <a:lstStyle/>
          <a:p>
            <a:pPr marL="0" indent="0">
              <a:buNone/>
            </a:pPr>
            <a:r>
              <a:rPr lang="en-US" sz="1550" dirty="0">
                <a:solidFill>
                  <a:srgbClr val="1F2937"/>
                </a:solidFill>
              </a:rPr>
              <a:t>• PyTorch RoBERTa model
• best_fgm_model.pt served through Gradio
• Returns predicted emoji and confidence</a:t>
            </a:r>
            <a:endParaRPr lang="en-US" sz="1550" dirty="0"/>
          </a:p>
        </p:txBody>
      </p:sp>
      <p:sp>
        <p:nvSpPr>
          <p:cNvPr id="19" name="Text 17"/>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9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1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9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2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30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5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40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566928" y="347472"/>
            <a:ext cx="10698480" cy="420624"/>
          </a:xfrm>
          <a:prstGeom prst="rect">
            <a:avLst/>
          </a:prstGeom>
          <a:noFill/>
          <a:ln/>
        </p:spPr>
        <p:txBody>
          <a:bodyPr wrap="square" lIns="0" tIns="0" rIns="0" bIns="0" rtlCol="0" anchor="ctr"/>
          <a:lstStyle/>
          <a:p>
            <a:pPr marL="0" indent="0">
              <a:buNone/>
            </a:pPr>
            <a:r>
              <a:rPr lang="en-US" sz="3000" b="1" dirty="0">
                <a:solidFill>
                  <a:srgbClr val="1F2937"/>
                </a:solidFill>
                <a:latin typeface="Aptos Display" pitchFamily="34" charset="0"/>
                <a:ea typeface="Aptos Display" pitchFamily="34" charset="-122"/>
                <a:cs typeface="Aptos Display" pitchFamily="34" charset="-120"/>
              </a:rPr>
              <a:t>8. Challenges and future work</a:t>
            </a:r>
            <a:endParaRPr lang="en-US" sz="3000" dirty="0"/>
          </a:p>
        </p:txBody>
      </p:sp>
      <p:sp>
        <p:nvSpPr>
          <p:cNvPr id="4" name="Text 2"/>
          <p:cNvSpPr/>
          <p:nvPr/>
        </p:nvSpPr>
        <p:spPr>
          <a:xfrm>
            <a:off x="685800" y="1389888"/>
            <a:ext cx="3840480" cy="329184"/>
          </a:xfrm>
          <a:prstGeom prst="rect">
            <a:avLst/>
          </a:prstGeom>
          <a:noFill/>
          <a:ln/>
        </p:spPr>
        <p:txBody>
          <a:bodyPr wrap="square" lIns="0" tIns="0" rIns="0" bIns="0" rtlCol="0" anchor="ctr"/>
          <a:lstStyle/>
          <a:p>
            <a:pPr marL="0" indent="0">
              <a:buNone/>
            </a:pPr>
            <a:r>
              <a:rPr lang="en-US" sz="2300" b="1" dirty="0">
                <a:solidFill>
                  <a:srgbClr val="1F2937"/>
                </a:solidFill>
              </a:rPr>
              <a:t>Challenges faced</a:t>
            </a:r>
            <a:endParaRPr lang="en-US" sz="2300" dirty="0"/>
          </a:p>
        </p:txBody>
      </p:sp>
      <p:sp>
        <p:nvSpPr>
          <p:cNvPr id="5" name="Text 3"/>
          <p:cNvSpPr/>
          <p:nvPr/>
        </p:nvSpPr>
        <p:spPr>
          <a:xfrm>
            <a:off x="713232" y="1847088"/>
            <a:ext cx="4983480" cy="1828800"/>
          </a:xfrm>
          <a:prstGeom prst="rect">
            <a:avLst/>
          </a:prstGeom>
          <a:noFill/>
          <a:ln/>
        </p:spPr>
        <p:txBody>
          <a:bodyPr wrap="square" lIns="635" tIns="635" rIns="635" bIns="635" rtlCol="0" anchor="ctr">
            <a:normAutofit lnSpcReduction="10000"/>
          </a:bodyPr>
          <a:lstStyle/>
          <a:p>
            <a:pPr marL="0" indent="0">
              <a:buNone/>
            </a:pPr>
            <a:r>
              <a:rPr lang="en-US" sz="2000" dirty="0">
                <a:solidFill>
                  <a:srgbClr val="1F2937"/>
                </a:solidFill>
              </a:rPr>
              <a:t>• Social media text is noisy: typos, slang, short phrases, and mixed languages.
• Some emoji classes are naturally ambiguous or visually similar in meaning.
• The deployed model depends on translation for Arabic input.</a:t>
            </a:r>
            <a:endParaRPr lang="en-US" sz="2000" dirty="0"/>
          </a:p>
        </p:txBody>
      </p:sp>
      <p:sp>
        <p:nvSpPr>
          <p:cNvPr id="6" name="Text 4"/>
          <p:cNvSpPr/>
          <p:nvPr/>
        </p:nvSpPr>
        <p:spPr>
          <a:xfrm>
            <a:off x="6400800" y="1389888"/>
            <a:ext cx="3840480" cy="329184"/>
          </a:xfrm>
          <a:prstGeom prst="rect">
            <a:avLst/>
          </a:prstGeom>
          <a:noFill/>
          <a:ln/>
        </p:spPr>
        <p:txBody>
          <a:bodyPr wrap="square" lIns="0" tIns="0" rIns="0" bIns="0" rtlCol="0" anchor="ctr"/>
          <a:lstStyle/>
          <a:p>
            <a:pPr marL="0" indent="0">
              <a:buNone/>
            </a:pPr>
            <a:r>
              <a:rPr lang="en-US" sz="2300" b="1" dirty="0">
                <a:solidFill>
                  <a:srgbClr val="1F2937"/>
                </a:solidFill>
              </a:rPr>
              <a:t>Future improvements</a:t>
            </a:r>
            <a:endParaRPr lang="en-US" sz="2300" dirty="0"/>
          </a:p>
        </p:txBody>
      </p:sp>
      <p:sp>
        <p:nvSpPr>
          <p:cNvPr id="7" name="Text 5"/>
          <p:cNvSpPr/>
          <p:nvPr/>
        </p:nvSpPr>
        <p:spPr>
          <a:xfrm>
            <a:off x="6428232" y="1847088"/>
            <a:ext cx="4983480" cy="2569464"/>
          </a:xfrm>
          <a:prstGeom prst="rect">
            <a:avLst/>
          </a:prstGeom>
          <a:noFill/>
          <a:ln/>
        </p:spPr>
        <p:txBody>
          <a:bodyPr wrap="square" lIns="635" tIns="635" rIns="635" bIns="635" rtlCol="0" anchor="ctr">
            <a:normAutofit/>
          </a:bodyPr>
          <a:lstStyle/>
          <a:p>
            <a:pPr marL="0" indent="0">
              <a:buNone/>
            </a:pPr>
            <a:r>
              <a:rPr lang="en-US" sz="2000" dirty="0">
                <a:solidFill>
                  <a:srgbClr val="1F2937"/>
                </a:solidFill>
              </a:rPr>
              <a:t>• Train a native multilingual model, such as AraBERT or XLM-R.
• Add more emoji classes, especially negative emotions such as 😢 and 😠.
• Collect more balanced Arabic-English social media examples.
• Improve deployment with automated model updates.</a:t>
            </a:r>
            <a:endParaRPr lang="en-US" sz="2000" dirty="0"/>
          </a:p>
        </p:txBody>
      </p:sp>
      <p:sp>
        <p:nvSpPr>
          <p:cNvPr id="8" name="Text 6"/>
          <p:cNvSpPr/>
          <p:nvPr/>
        </p:nvSpPr>
        <p:spPr>
          <a:xfrm>
            <a:off x="960120" y="4709160"/>
            <a:ext cx="10241280" cy="841248"/>
          </a:xfrm>
          <a:prstGeom prst="rect">
            <a:avLst/>
          </a:prstGeom>
          <a:ln/>
        </p:spPr>
        <p:style>
          <a:lnRef idx="2">
            <a:schemeClr val="accent4"/>
          </a:lnRef>
          <a:fillRef idx="1">
            <a:schemeClr val="lt1"/>
          </a:fillRef>
          <a:effectRef idx="0">
            <a:schemeClr val="accent4"/>
          </a:effectRef>
          <a:fontRef idx="minor">
            <a:schemeClr val="dk1"/>
          </a:fontRef>
        </p:style>
        <p:txBody>
          <a:bodyPr wrap="square" lIns="1905" tIns="1905" rIns="1905" bIns="1905" rtlCol="0" anchor="ctr">
            <a:normAutofit/>
          </a:bodyPr>
          <a:lstStyle/>
          <a:p>
            <a:pPr marL="0" indent="0" algn="ctr">
              <a:buNone/>
            </a:pPr>
            <a:r>
              <a:rPr lang="en-US" sz="2000" b="1" dirty="0">
                <a:solidFill>
                  <a:srgbClr val="1F2937"/>
                </a:solidFill>
              </a:rPr>
              <a:t>Final conclusion: the FGM fine‑tuned transformer gave the strongest and most practical solution for emoji prediction from noisy social media text.</a:t>
            </a:r>
            <a:endParaRPr lang="en-US" sz="2000" dirty="0"/>
          </a:p>
        </p:txBody>
      </p:sp>
      <p:sp>
        <p:nvSpPr>
          <p:cNvPr id="9" name="Text 7"/>
          <p:cNvSpPr/>
          <p:nvPr/>
        </p:nvSpPr>
        <p:spPr>
          <a:xfrm>
            <a:off x="502920" y="6510528"/>
            <a:ext cx="5120640" cy="201168"/>
          </a:xfrm>
          <a:prstGeom prst="rect">
            <a:avLst/>
          </a:prstGeom>
          <a:noFill/>
          <a:ln/>
        </p:spPr>
        <p:txBody>
          <a:bodyPr wrap="square" lIns="0" tIns="0" rIns="0" bIns="0" rtlCol="0" anchor="ctr"/>
          <a:lstStyle/>
          <a:p>
            <a:pPr marL="0" indent="0">
              <a:buNone/>
            </a:pPr>
            <a:r>
              <a:rPr lang="en-US" sz="850" dirty="0">
                <a:solidFill>
                  <a:srgbClr val="9CA3AF"/>
                </a:solidFill>
                <a:latin typeface="Aptos" pitchFamily="34" charset="0"/>
                <a:ea typeface="Aptos" pitchFamily="34" charset="-122"/>
                <a:cs typeface="Aptos" pitchFamily="34" charset="-120"/>
              </a:rPr>
              <a:t>AI 445 NLP • Emoji Prediction Project • 9</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713232" y="713232"/>
            <a:ext cx="4572000" cy="566928"/>
          </a:xfrm>
          <a:prstGeom prst="rect">
            <a:avLst/>
          </a:prstGeom>
          <a:noFill/>
          <a:ln/>
        </p:spPr>
        <p:txBody>
          <a:bodyPr wrap="square" lIns="0" tIns="0" rIns="0" bIns="0"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Thank you</a:t>
            </a:r>
            <a:endParaRPr lang="en-US" sz="4200" dirty="0"/>
          </a:p>
        </p:txBody>
      </p:sp>
      <p:sp>
        <p:nvSpPr>
          <p:cNvPr id="3" name="Text 1"/>
          <p:cNvSpPr/>
          <p:nvPr/>
        </p:nvSpPr>
        <p:spPr>
          <a:xfrm>
            <a:off x="749808" y="1444752"/>
            <a:ext cx="3657600" cy="457200"/>
          </a:xfrm>
          <a:prstGeom prst="rect">
            <a:avLst/>
          </a:prstGeom>
          <a:noFill/>
          <a:ln/>
        </p:spPr>
        <p:txBody>
          <a:bodyPr wrap="square" lIns="0" tIns="0" rIns="0" bIns="0" rtlCol="0" anchor="ctr"/>
          <a:lstStyle/>
          <a:p>
            <a:pPr marL="0" indent="0">
              <a:buNone/>
            </a:pPr>
            <a:r>
              <a:rPr lang="en-US" sz="2800" b="1" dirty="0">
                <a:solidFill>
                  <a:srgbClr val="FFC857"/>
                </a:solidFill>
              </a:rPr>
              <a:t>Questions?</a:t>
            </a:r>
            <a:endParaRPr lang="en-US" sz="2800" dirty="0"/>
          </a:p>
        </p:txBody>
      </p:sp>
      <p:sp>
        <p:nvSpPr>
          <p:cNvPr id="4" name="Text 2"/>
          <p:cNvSpPr/>
          <p:nvPr/>
        </p:nvSpPr>
        <p:spPr>
          <a:xfrm>
            <a:off x="758952" y="2148840"/>
            <a:ext cx="5120640" cy="274320"/>
          </a:xfrm>
          <a:prstGeom prst="rect">
            <a:avLst/>
          </a:prstGeom>
          <a:noFill/>
          <a:ln/>
        </p:spPr>
        <p:txBody>
          <a:bodyPr wrap="square" lIns="0" tIns="0" rIns="0" bIns="0" rtlCol="0" anchor="ctr"/>
          <a:lstStyle/>
          <a:p>
            <a:r>
              <a:rPr lang="en-US" sz="1600" dirty="0">
                <a:solidFill>
                  <a:srgbClr val="E5E7EB"/>
                </a:solidFill>
              </a:rPr>
              <a:t>Live demo: </a:t>
            </a:r>
            <a:r>
              <a:rPr lang="en-US" sz="1600" dirty="0">
                <a:solidFill>
                  <a:srgbClr val="E5E7EB"/>
                </a:solidFill>
                <a:hlinkClick r:id="rId3"/>
              </a:rPr>
              <a:t>https://emoji-predictor-app.web.app/</a:t>
            </a:r>
            <a:endParaRPr lang="en-US" sz="1600" dirty="0"/>
          </a:p>
        </p:txBody>
      </p:sp>
      <p:sp>
        <p:nvSpPr>
          <p:cNvPr id="5" name="Text 3"/>
          <p:cNvSpPr/>
          <p:nvPr/>
        </p:nvSpPr>
        <p:spPr>
          <a:xfrm>
            <a:off x="758952" y="2542032"/>
            <a:ext cx="5943600" cy="274320"/>
          </a:xfrm>
          <a:prstGeom prst="rect">
            <a:avLst/>
          </a:prstGeom>
          <a:noFill/>
          <a:ln/>
        </p:spPr>
        <p:txBody>
          <a:bodyPr wrap="square" lIns="0" tIns="0" rIns="0" bIns="0" rtlCol="0" anchor="ctr"/>
          <a:lstStyle/>
          <a:p>
            <a:pPr marL="0" indent="0">
              <a:buNone/>
            </a:pPr>
            <a:r>
              <a:rPr lang="en-US" sz="1600" dirty="0">
                <a:solidFill>
                  <a:srgbClr val="E5E7EB"/>
                </a:solidFill>
              </a:rPr>
              <a:t>GitHub: Ahmad12Rased/Emoji-Prediction-from-Text</a:t>
            </a:r>
            <a:endParaRPr lang="en-US" sz="1600" dirty="0"/>
          </a:p>
        </p:txBody>
      </p:sp>
      <p:sp>
        <p:nvSpPr>
          <p:cNvPr id="10" name="Text 15">
            <a:extLst>
              <a:ext uri="{FF2B5EF4-FFF2-40B4-BE49-F238E27FC236}">
                <a16:creationId xmlns:a16="http://schemas.microsoft.com/office/drawing/2014/main" id="{7D94EAA7-0503-23AD-F0AC-3D7F09B857B8}"/>
              </a:ext>
            </a:extLst>
          </p:cNvPr>
          <p:cNvSpPr/>
          <p:nvPr/>
        </p:nvSpPr>
        <p:spPr>
          <a:xfrm>
            <a:off x="7072312" y="321754"/>
            <a:ext cx="2743200" cy="292608"/>
          </a:xfrm>
          <a:prstGeom prst="rect">
            <a:avLst/>
          </a:prstGeom>
          <a:noFill/>
          <a:ln/>
        </p:spPr>
        <p:txBody>
          <a:bodyPr wrap="square" lIns="0" tIns="0" rIns="0" bIns="0" rtlCol="0" anchor="ctr"/>
          <a:lstStyle/>
          <a:p>
            <a:pPr marL="0" indent="0" algn="ctr">
              <a:buNone/>
            </a:pPr>
            <a:r>
              <a:rPr lang="en-US" sz="2100" b="1" dirty="0">
                <a:solidFill>
                  <a:schemeClr val="bg1"/>
                </a:solidFill>
              </a:rPr>
              <a:t>Demo QR</a:t>
            </a:r>
            <a:endParaRPr lang="en-US" sz="2100" dirty="0">
              <a:solidFill>
                <a:schemeClr val="bg1"/>
              </a:solidFill>
            </a:endParaRPr>
          </a:p>
        </p:txBody>
      </p:sp>
      <p:pic>
        <p:nvPicPr>
          <p:cNvPr id="11" name="Picture 10" descr="website_qr.png">
            <a:extLst>
              <a:ext uri="{FF2B5EF4-FFF2-40B4-BE49-F238E27FC236}">
                <a16:creationId xmlns:a16="http://schemas.microsoft.com/office/drawing/2014/main" id="{4D5B1F0B-C918-2521-2C38-E5E1995B7370}"/>
              </a:ext>
            </a:extLst>
          </p:cNvPr>
          <p:cNvPicPr>
            <a:picLocks noChangeAspect="1"/>
          </p:cNvPicPr>
          <p:nvPr/>
        </p:nvPicPr>
        <p:blipFill>
          <a:blip r:embed="rId4"/>
          <a:stretch>
            <a:fillRect/>
          </a:stretch>
        </p:blipFill>
        <p:spPr>
          <a:xfrm>
            <a:off x="5986463" y="1000125"/>
            <a:ext cx="5446585" cy="5243513"/>
          </a:xfrm>
          <a:prstGeom prst="rect">
            <a:avLst/>
          </a:prstGeom>
        </p:spPr>
      </p:pic>
      <p:pic>
        <p:nvPicPr>
          <p:cNvPr id="13" name="Picture 12">
            <a:extLst>
              <a:ext uri="{FF2B5EF4-FFF2-40B4-BE49-F238E27FC236}">
                <a16:creationId xmlns:a16="http://schemas.microsoft.com/office/drawing/2014/main" id="{54C6D0DA-5C51-7759-813F-5B0DCD306AE5}"/>
              </a:ext>
            </a:extLst>
          </p:cNvPr>
          <p:cNvPicPr>
            <a:picLocks noChangeAspect="1"/>
          </p:cNvPicPr>
          <p:nvPr/>
        </p:nvPicPr>
        <p:blipFill>
          <a:blip r:embed="rId5"/>
          <a:stretch>
            <a:fillRect/>
          </a:stretch>
        </p:blipFill>
        <p:spPr>
          <a:xfrm>
            <a:off x="758952" y="3429000"/>
            <a:ext cx="3032423" cy="2959548"/>
          </a:xfrm>
          <a:prstGeom prst="rect">
            <a:avLst/>
          </a:prstGeom>
        </p:spPr>
      </p:pic>
      <p:sp>
        <p:nvSpPr>
          <p:cNvPr id="14" name="Text 15">
            <a:extLst>
              <a:ext uri="{FF2B5EF4-FFF2-40B4-BE49-F238E27FC236}">
                <a16:creationId xmlns:a16="http://schemas.microsoft.com/office/drawing/2014/main" id="{6288F4CC-D2C7-B52B-19C2-3386C2E89B72}"/>
              </a:ext>
            </a:extLst>
          </p:cNvPr>
          <p:cNvSpPr/>
          <p:nvPr/>
        </p:nvSpPr>
        <p:spPr>
          <a:xfrm>
            <a:off x="774119" y="3035808"/>
            <a:ext cx="2743200" cy="292608"/>
          </a:xfrm>
          <a:prstGeom prst="rect">
            <a:avLst/>
          </a:prstGeom>
          <a:noFill/>
          <a:ln/>
        </p:spPr>
        <p:txBody>
          <a:bodyPr wrap="square" lIns="0" tIns="0" rIns="0" bIns="0" rtlCol="0" anchor="ctr"/>
          <a:lstStyle/>
          <a:p>
            <a:pPr marL="0" indent="0" algn="ctr">
              <a:buNone/>
            </a:pPr>
            <a:r>
              <a:rPr lang="en-US" sz="2100" dirty="0">
                <a:solidFill>
                  <a:schemeClr val="bg1"/>
                </a:solidFill>
              </a:rPr>
              <a:t>Web</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1503</Words>
  <Application>Microsoft Office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445 NLP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Emoji Prediction from Social Media Text</dc:title>
  <dc:subject>Emoji Prediction from Social Media Text</dc:subject>
  <dc:creator>OpenAI</dc:creator>
  <cp:lastModifiedBy>احمد هزايمه</cp:lastModifiedBy>
  <cp:revision>3</cp:revision>
  <dcterms:created xsi:type="dcterms:W3CDTF">2026-05-18T18:35:58Z</dcterms:created>
  <dcterms:modified xsi:type="dcterms:W3CDTF">2026-05-18T21:54:57Z</dcterms:modified>
</cp:coreProperties>
</file>